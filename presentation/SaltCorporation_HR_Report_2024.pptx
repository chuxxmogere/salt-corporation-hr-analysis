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59" r:id="rId6"/>
    <p:sldId id="260" r:id="rId7"/>
    <p:sldId id="261"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0" d="100"/>
          <a:sy n="110"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hux\Documents\EXCEL\Everything%20Data%20Projec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[Everything Data Project.xlsx]Summary Statistics!PivotTable13</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accent6">
                    <a:lumMod val="75000"/>
                  </a:schemeClr>
                </a:solidFill>
              </a:rPr>
              <a:t>Majority</a:t>
            </a:r>
            <a:r>
              <a:rPr lang="en-US" b="1" baseline="0">
                <a:solidFill>
                  <a:schemeClr val="accent6">
                    <a:lumMod val="75000"/>
                  </a:schemeClr>
                </a:solidFill>
              </a:rPr>
              <a:t> of </a:t>
            </a:r>
            <a:r>
              <a:rPr lang="en-US" b="1">
                <a:solidFill>
                  <a:schemeClr val="accent6">
                    <a:lumMod val="75000"/>
                  </a:schemeClr>
                </a:solidFill>
              </a:rPr>
              <a:t>employees are not satisfied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KE"/>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KE"/>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KE"/>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KE"/>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C00000"/>
          </a:solidFill>
          <a:ln>
            <a:noFill/>
          </a:ln>
          <a:effectLst/>
        </c:spPr>
      </c:pivotFmt>
      <c:pivotFmt>
        <c:idx val="4"/>
        <c:spPr>
          <a:solidFill>
            <a:srgbClr val="C00000"/>
          </a:solidFill>
          <a:ln>
            <a:noFill/>
          </a:ln>
          <a:effectLst/>
        </c:spPr>
      </c:pivotFmt>
      <c:pivotFmt>
        <c:idx val="5"/>
        <c:spPr>
          <a:solidFill>
            <a:schemeClr val="accent6">
              <a:lumMod val="75000"/>
            </a:schemeClr>
          </a:solidFill>
          <a:ln>
            <a:noFill/>
          </a:ln>
          <a:effectLst/>
        </c:spPr>
      </c:pivotFmt>
      <c:pivotFmt>
        <c:idx val="6"/>
        <c:spPr>
          <a:solidFill>
            <a:schemeClr val="accent6">
              <a:lumMod val="75000"/>
            </a:schemeClr>
          </a:solidFill>
          <a:ln>
            <a:noFill/>
          </a:ln>
          <a:effectLst/>
        </c:spPr>
      </c:pivotFmt>
      <c:pivotFmt>
        <c:idx val="7"/>
        <c:spPr>
          <a:solidFill>
            <a:schemeClr val="accent6">
              <a:lumMod val="75000"/>
            </a:schemeClr>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KE"/>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C00000"/>
          </a:solidFill>
          <a:ln>
            <a:noFill/>
          </a:ln>
          <a:effectLst/>
        </c:spPr>
      </c:pivotFmt>
      <c:pivotFmt>
        <c:idx val="10"/>
        <c:spPr>
          <a:solidFill>
            <a:srgbClr val="C00000"/>
          </a:solidFill>
          <a:ln>
            <a:noFill/>
          </a:ln>
          <a:effectLst/>
        </c:spPr>
      </c:pivotFmt>
      <c:pivotFmt>
        <c:idx val="11"/>
        <c:spPr>
          <a:solidFill>
            <a:schemeClr val="accent6">
              <a:lumMod val="75000"/>
            </a:schemeClr>
          </a:solidFill>
          <a:ln>
            <a:noFill/>
          </a:ln>
          <a:effectLst/>
        </c:spPr>
      </c:pivotFmt>
      <c:pivotFmt>
        <c:idx val="12"/>
        <c:spPr>
          <a:solidFill>
            <a:schemeClr val="accent6">
              <a:lumMod val="75000"/>
            </a:schemeClr>
          </a:solidFill>
          <a:ln>
            <a:noFill/>
          </a:ln>
          <a:effectLst/>
        </c:spPr>
      </c:pivotFmt>
      <c:pivotFmt>
        <c:idx val="13"/>
        <c:spPr>
          <a:solidFill>
            <a:schemeClr val="accent6">
              <a:lumMod val="75000"/>
            </a:schemeClr>
          </a:solidFill>
          <a:ln>
            <a:noFill/>
          </a:ln>
          <a:effectLst/>
        </c:spPr>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KE"/>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rgbClr val="C00000"/>
          </a:solidFill>
          <a:ln>
            <a:noFill/>
          </a:ln>
          <a:effectLst/>
        </c:spPr>
      </c:pivotFmt>
      <c:pivotFmt>
        <c:idx val="16"/>
        <c:spPr>
          <a:solidFill>
            <a:srgbClr val="C00000"/>
          </a:solidFill>
          <a:ln>
            <a:noFill/>
          </a:ln>
          <a:effectLst/>
        </c:spPr>
      </c:pivotFmt>
      <c:pivotFmt>
        <c:idx val="17"/>
        <c:spPr>
          <a:solidFill>
            <a:schemeClr val="accent6">
              <a:lumMod val="75000"/>
            </a:schemeClr>
          </a:solidFill>
          <a:ln>
            <a:noFill/>
          </a:ln>
          <a:effectLst/>
        </c:spPr>
      </c:pivotFmt>
      <c:pivotFmt>
        <c:idx val="18"/>
        <c:spPr>
          <a:solidFill>
            <a:schemeClr val="accent6">
              <a:lumMod val="75000"/>
            </a:schemeClr>
          </a:solidFill>
          <a:ln>
            <a:noFill/>
          </a:ln>
          <a:effectLst/>
        </c:spPr>
      </c:pivotFmt>
      <c:pivotFmt>
        <c:idx val="19"/>
        <c:spPr>
          <a:solidFill>
            <a:schemeClr val="accent6">
              <a:lumMod val="75000"/>
            </a:schemeClr>
          </a:solidFill>
          <a:ln>
            <a:noFill/>
          </a:ln>
          <a:effectLst/>
        </c:spPr>
      </c:pivotFmt>
    </c:pivotFmts>
    <c:plotArea>
      <c:layout>
        <c:manualLayout>
          <c:layoutTarget val="inner"/>
          <c:xMode val="edge"/>
          <c:yMode val="edge"/>
          <c:x val="0.11357599888059226"/>
          <c:y val="0.18990087176602921"/>
          <c:w val="0.78928103494333002"/>
          <c:h val="0.56215746469191352"/>
        </c:manualLayout>
      </c:layout>
      <c:barChart>
        <c:barDir val="bar"/>
        <c:grouping val="clustered"/>
        <c:varyColors val="0"/>
        <c:ser>
          <c:idx val="0"/>
          <c:order val="0"/>
          <c:tx>
            <c:strRef>
              <c:f>'Summary Statistics'!$B$65</c:f>
              <c:strCache>
                <c:ptCount val="1"/>
                <c:pt idx="0">
                  <c:v>Total</c:v>
                </c:pt>
              </c:strCache>
            </c:strRef>
          </c:tx>
          <c:spPr>
            <a:solidFill>
              <a:schemeClr val="accent1"/>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6683-4EBA-93CD-86AF521A0DB8}"/>
              </c:ext>
            </c:extLst>
          </c:dPt>
          <c:dPt>
            <c:idx val="1"/>
            <c:invertIfNegative val="0"/>
            <c:bubble3D val="0"/>
            <c:spPr>
              <a:solidFill>
                <a:srgbClr val="C00000"/>
              </a:solidFill>
              <a:ln>
                <a:noFill/>
              </a:ln>
              <a:effectLst/>
            </c:spPr>
            <c:extLst>
              <c:ext xmlns:c16="http://schemas.microsoft.com/office/drawing/2014/chart" uri="{C3380CC4-5D6E-409C-BE32-E72D297353CC}">
                <c16:uniqueId val="{00000003-6683-4EBA-93CD-86AF521A0DB8}"/>
              </c:ext>
            </c:extLst>
          </c:dPt>
          <c:dPt>
            <c:idx val="2"/>
            <c:invertIfNegative val="0"/>
            <c:bubble3D val="0"/>
            <c:spPr>
              <a:solidFill>
                <a:schemeClr val="accent6">
                  <a:lumMod val="75000"/>
                </a:schemeClr>
              </a:solidFill>
              <a:ln>
                <a:noFill/>
              </a:ln>
              <a:effectLst/>
            </c:spPr>
            <c:extLst>
              <c:ext xmlns:c16="http://schemas.microsoft.com/office/drawing/2014/chart" uri="{C3380CC4-5D6E-409C-BE32-E72D297353CC}">
                <c16:uniqueId val="{00000005-6683-4EBA-93CD-86AF521A0DB8}"/>
              </c:ext>
            </c:extLst>
          </c:dPt>
          <c:dPt>
            <c:idx val="3"/>
            <c:invertIfNegative val="0"/>
            <c:bubble3D val="0"/>
            <c:spPr>
              <a:solidFill>
                <a:schemeClr val="accent6">
                  <a:lumMod val="75000"/>
                </a:schemeClr>
              </a:solidFill>
              <a:ln>
                <a:noFill/>
              </a:ln>
              <a:effectLst/>
            </c:spPr>
            <c:extLst>
              <c:ext xmlns:c16="http://schemas.microsoft.com/office/drawing/2014/chart" uri="{C3380CC4-5D6E-409C-BE32-E72D297353CC}">
                <c16:uniqueId val="{00000007-6683-4EBA-93CD-86AF521A0DB8}"/>
              </c:ext>
            </c:extLst>
          </c:dPt>
          <c:dPt>
            <c:idx val="4"/>
            <c:invertIfNegative val="0"/>
            <c:bubble3D val="0"/>
            <c:spPr>
              <a:solidFill>
                <a:schemeClr val="accent6">
                  <a:lumMod val="75000"/>
                </a:schemeClr>
              </a:solidFill>
              <a:ln>
                <a:noFill/>
              </a:ln>
              <a:effectLst/>
            </c:spPr>
            <c:extLst>
              <c:ext xmlns:c16="http://schemas.microsoft.com/office/drawing/2014/chart" uri="{C3380CC4-5D6E-409C-BE32-E72D297353CC}">
                <c16:uniqueId val="{00000009-6683-4EBA-93CD-86AF521A0DB8}"/>
              </c:ext>
            </c:extLst>
          </c:dPt>
          <c:cat>
            <c:strRef>
              <c:f>'Summary Statistics'!$A$66:$A$71</c:f>
              <c:strCache>
                <c:ptCount val="5"/>
                <c:pt idx="0">
                  <c:v>1</c:v>
                </c:pt>
                <c:pt idx="1">
                  <c:v>2</c:v>
                </c:pt>
                <c:pt idx="2">
                  <c:v>4</c:v>
                </c:pt>
                <c:pt idx="3">
                  <c:v>3</c:v>
                </c:pt>
                <c:pt idx="4">
                  <c:v>5</c:v>
                </c:pt>
              </c:strCache>
            </c:strRef>
          </c:cat>
          <c:val>
            <c:numRef>
              <c:f>'Summary Statistics'!$B$66:$B$71</c:f>
              <c:numCache>
                <c:formatCode>General</c:formatCode>
                <c:ptCount val="5"/>
                <c:pt idx="0">
                  <c:v>218</c:v>
                </c:pt>
                <c:pt idx="1">
                  <c:v>214</c:v>
                </c:pt>
                <c:pt idx="2">
                  <c:v>206</c:v>
                </c:pt>
                <c:pt idx="3">
                  <c:v>182</c:v>
                </c:pt>
                <c:pt idx="4">
                  <c:v>180</c:v>
                </c:pt>
              </c:numCache>
            </c:numRef>
          </c:val>
          <c:extLst>
            <c:ext xmlns:c16="http://schemas.microsoft.com/office/drawing/2014/chart" uri="{C3380CC4-5D6E-409C-BE32-E72D297353CC}">
              <c16:uniqueId val="{0000000A-6683-4EBA-93CD-86AF521A0DB8}"/>
            </c:ext>
          </c:extLst>
        </c:ser>
        <c:dLbls>
          <c:showLegendKey val="0"/>
          <c:showVal val="0"/>
          <c:showCatName val="0"/>
          <c:showSerName val="0"/>
          <c:showPercent val="0"/>
          <c:showBubbleSize val="0"/>
        </c:dLbls>
        <c:gapWidth val="182"/>
        <c:axId val="331751408"/>
        <c:axId val="331733648"/>
      </c:barChart>
      <c:catAx>
        <c:axId val="33175140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solidFill>
                      <a:schemeClr val="tx1"/>
                    </a:solidFill>
                  </a:rPr>
                  <a:t>Job satisfaction</a:t>
                </a:r>
              </a:p>
              <a:p>
                <a:pPr>
                  <a:defRPr/>
                </a:pPr>
                <a:endParaRPr lang="en-US" b="1">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KE"/>
          </a:p>
        </c:txPr>
        <c:crossAx val="331733648"/>
        <c:crosses val="autoZero"/>
        <c:auto val="1"/>
        <c:lblAlgn val="ctr"/>
        <c:lblOffset val="100"/>
        <c:noMultiLvlLbl val="0"/>
      </c:catAx>
      <c:valAx>
        <c:axId val="33173364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KE"/>
          </a:p>
        </c:txPr>
        <c:crossAx val="3317514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342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7" name="Text 5"/>
          <p:cNvSpPr/>
          <p:nvPr/>
        </p:nvSpPr>
        <p:spPr>
          <a:xfrm>
            <a:off x="320040" y="868680"/>
            <a:ext cx="7772400" cy="2103120"/>
          </a:xfrm>
          <a:prstGeom prst="rect">
            <a:avLst/>
          </a:prstGeom>
          <a:noFill/>
          <a:ln/>
        </p:spPr>
        <p:txBody>
          <a:bodyPr wrap="square" lIns="0" tIns="0" rIns="0" bIns="0" rtlCol="0" anchor="t"/>
          <a:lstStyle/>
          <a:p>
            <a:pPr marL="0" indent="0" algn="l">
              <a:buNone/>
            </a:pPr>
            <a:r>
              <a:rPr lang="en-US" sz="4000" b="1" dirty="0">
                <a:solidFill>
                  <a:srgbClr val="FFFFFF"/>
                </a:solidFill>
              </a:rPr>
              <a:t>Employee Satisfaction</a:t>
            </a:r>
            <a:endParaRPr lang="en-US" sz="4000" dirty="0"/>
          </a:p>
          <a:p>
            <a:pPr marL="0" indent="0" algn="l">
              <a:buNone/>
            </a:pPr>
            <a:r>
              <a:rPr lang="en-US" sz="4000" b="1" dirty="0">
                <a:solidFill>
                  <a:srgbClr val="FFFFFF"/>
                </a:solidFill>
              </a:rPr>
              <a:t>&amp; Retention Analysis</a:t>
            </a:r>
            <a:endParaRPr lang="en-US" sz="4000" dirty="0"/>
          </a:p>
        </p:txBody>
      </p:sp>
      <p:sp>
        <p:nvSpPr>
          <p:cNvPr id="10" name="Text 8"/>
          <p:cNvSpPr/>
          <p:nvPr/>
        </p:nvSpPr>
        <p:spPr>
          <a:xfrm>
            <a:off x="320040" y="3703320"/>
            <a:ext cx="7315200" cy="320040"/>
          </a:xfrm>
          <a:prstGeom prst="rect">
            <a:avLst/>
          </a:prstGeom>
          <a:noFill/>
          <a:ln/>
        </p:spPr>
        <p:txBody>
          <a:bodyPr wrap="square" lIns="0" tIns="0" rIns="0" bIns="0" rtlCol="0" anchor="ctr"/>
          <a:lstStyle/>
          <a:p>
            <a:pPr marL="0" indent="0" algn="l">
              <a:buNone/>
            </a:pPr>
            <a:r>
              <a:rPr lang="en-US" sz="1100" dirty="0">
                <a:solidFill>
                  <a:srgbClr val="C5D0D8"/>
                </a:solidFill>
              </a:rPr>
              <a:t>Based on a survey of 1,000 employees across 5 departments  ·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noFill/>
          <a:ln w="12700">
            <a:noFill/>
            <a:prstDash val="solid"/>
          </a:ln>
        </p:spPr>
      </p:sp>
      <p:sp>
        <p:nvSpPr>
          <p:cNvPr id="3" name="Text 1"/>
          <p:cNvSpPr/>
          <p:nvPr/>
        </p:nvSpPr>
        <p:spPr>
          <a:xfrm>
            <a:off x="365760" y="0"/>
            <a:ext cx="8229600" cy="777240"/>
          </a:xfrm>
          <a:prstGeom prst="rect">
            <a:avLst/>
          </a:prstGeom>
          <a:noFill/>
          <a:ln>
            <a:noFill/>
          </a:ln>
        </p:spPr>
        <p:txBody>
          <a:bodyPr wrap="square" lIns="0" tIns="0" rIns="0" bIns="0" rtlCol="0" anchor="ctr"/>
          <a:lstStyle/>
          <a:p>
            <a:pPr marL="0" indent="0">
              <a:buNone/>
            </a:pPr>
            <a:r>
              <a:rPr lang="en-US" sz="1100" b="1" kern="0" spc="300" dirty="0">
                <a:solidFill>
                  <a:srgbClr val="A8DADC"/>
                </a:solidFill>
              </a:rPr>
              <a:t>PROJECT OVERVIEW</a:t>
            </a:r>
            <a:endParaRPr lang="en-US" sz="1100" dirty="0"/>
          </a:p>
        </p:txBody>
      </p:sp>
      <p:sp>
        <p:nvSpPr>
          <p:cNvPr id="5" name="Shape 3"/>
          <p:cNvSpPr/>
          <p:nvPr/>
        </p:nvSpPr>
        <p:spPr>
          <a:xfrm>
            <a:off x="365760" y="1554480"/>
            <a:ext cx="4023360" cy="2286000"/>
          </a:xfrm>
          <a:prstGeom prst="rect">
            <a:avLst/>
          </a:prstGeom>
          <a:solidFill>
            <a:srgbClr val="FFFFFF"/>
          </a:solidFill>
          <a:ln w="12700">
            <a:solidFill>
              <a:srgbClr val="E8EEF2"/>
            </a:solidFill>
            <a:prstDash val="solid"/>
          </a:ln>
          <a:effectLst>
            <a:outerShdw blurRad="101600" dist="25400" dir="8100000" algn="bl" rotWithShape="0">
              <a:srgbClr val="000000">
                <a:alpha val="12000"/>
              </a:srgbClr>
            </a:outerShdw>
          </a:effectLst>
        </p:spPr>
      </p:sp>
      <p:sp>
        <p:nvSpPr>
          <p:cNvPr id="6" name="Shape 4"/>
          <p:cNvSpPr/>
          <p:nvPr/>
        </p:nvSpPr>
        <p:spPr>
          <a:xfrm>
            <a:off x="365760" y="1554480"/>
            <a:ext cx="4023360" cy="347472"/>
          </a:xfrm>
          <a:prstGeom prst="rect">
            <a:avLst/>
          </a:prstGeom>
          <a:solidFill>
            <a:schemeClr val="accent6">
              <a:lumMod val="75000"/>
            </a:schemeClr>
          </a:solidFill>
          <a:ln w="12700">
            <a:solidFill>
              <a:schemeClr val="accent6">
                <a:lumMod val="75000"/>
              </a:schemeClr>
            </a:solidFill>
            <a:prstDash val="solid"/>
          </a:ln>
        </p:spPr>
      </p:sp>
      <p:sp>
        <p:nvSpPr>
          <p:cNvPr id="7" name="Text 5"/>
          <p:cNvSpPr/>
          <p:nvPr/>
        </p:nvSpPr>
        <p:spPr>
          <a:xfrm>
            <a:off x="457200" y="1554480"/>
            <a:ext cx="3840480" cy="347472"/>
          </a:xfrm>
          <a:prstGeom prst="rect">
            <a:avLst/>
          </a:prstGeom>
          <a:noFill/>
          <a:ln/>
        </p:spPr>
        <p:txBody>
          <a:bodyPr wrap="square" lIns="0" tIns="0" rIns="0" bIns="0" rtlCol="0" anchor="ctr"/>
          <a:lstStyle/>
          <a:p>
            <a:pPr marL="0" indent="0">
              <a:buNone/>
            </a:pPr>
            <a:r>
              <a:rPr lang="en-US" sz="1000" b="1" kern="0" spc="200" dirty="0">
                <a:solidFill>
                  <a:srgbClr val="FFFFFF"/>
                </a:solidFill>
              </a:rPr>
              <a:t>THE BRIEF</a:t>
            </a:r>
            <a:endParaRPr lang="en-US" sz="1000" dirty="0"/>
          </a:p>
        </p:txBody>
      </p:sp>
      <p:sp>
        <p:nvSpPr>
          <p:cNvPr id="8" name="Text 6"/>
          <p:cNvSpPr/>
          <p:nvPr/>
        </p:nvSpPr>
        <p:spPr>
          <a:xfrm>
            <a:off x="502920" y="1993392"/>
            <a:ext cx="3749040" cy="1691640"/>
          </a:xfrm>
          <a:prstGeom prst="rect">
            <a:avLst/>
          </a:prstGeom>
          <a:solidFill>
            <a:schemeClr val="accent6">
              <a:lumMod val="20000"/>
              <a:lumOff val="80000"/>
            </a:schemeClr>
          </a:solidFill>
          <a:ln/>
        </p:spPr>
        <p:txBody>
          <a:bodyPr wrap="square" lIns="0" tIns="0" rIns="0" bIns="0" rtlCol="0" anchor="t"/>
          <a:lstStyle/>
          <a:p>
            <a:pPr marL="0" indent="0">
              <a:buNone/>
            </a:pPr>
            <a:r>
              <a:rPr lang="en-US" sz="1200" dirty="0">
                <a:solidFill>
                  <a:srgbClr val="2D2D2D"/>
                </a:solidFill>
              </a:rPr>
              <a:t>Salt Corporation surveyed 1,000 employees in 2024 to measure job satisfaction and understand staff turnover. As the HR data analyst, the task was to clean the data, uncover patterns, and deliver evidence-based recommendations to leadership.</a:t>
            </a:r>
            <a:endParaRPr lang="en-US" sz="1200" dirty="0"/>
          </a:p>
        </p:txBody>
      </p:sp>
      <p:sp>
        <p:nvSpPr>
          <p:cNvPr id="9" name="Shape 7"/>
          <p:cNvSpPr/>
          <p:nvPr/>
        </p:nvSpPr>
        <p:spPr>
          <a:xfrm>
            <a:off x="4754880" y="1554480"/>
            <a:ext cx="4023360" cy="2286000"/>
          </a:xfrm>
          <a:prstGeom prst="rect">
            <a:avLst/>
          </a:prstGeom>
          <a:solidFill>
            <a:schemeClr val="accent6">
              <a:lumMod val="20000"/>
              <a:lumOff val="80000"/>
            </a:schemeClr>
          </a:solidFill>
          <a:ln w="12700">
            <a:solidFill>
              <a:srgbClr val="E8EEF2"/>
            </a:solidFill>
            <a:prstDash val="solid"/>
          </a:ln>
          <a:effectLst>
            <a:outerShdw blurRad="101600" dist="25400" dir="8100000" algn="bl" rotWithShape="0">
              <a:srgbClr val="000000">
                <a:alpha val="12000"/>
              </a:srgbClr>
            </a:outerShdw>
          </a:effectLst>
        </p:spPr>
      </p:sp>
      <p:sp>
        <p:nvSpPr>
          <p:cNvPr id="10" name="Shape 8"/>
          <p:cNvSpPr/>
          <p:nvPr/>
        </p:nvSpPr>
        <p:spPr>
          <a:xfrm>
            <a:off x="4754880" y="1554480"/>
            <a:ext cx="4023360" cy="347472"/>
          </a:xfrm>
          <a:prstGeom prst="rect">
            <a:avLst/>
          </a:prstGeom>
          <a:solidFill>
            <a:schemeClr val="accent6">
              <a:lumMod val="75000"/>
            </a:schemeClr>
          </a:solidFill>
          <a:ln w="12700">
            <a:solidFill>
              <a:schemeClr val="accent6">
                <a:lumMod val="75000"/>
              </a:schemeClr>
            </a:solidFill>
            <a:prstDash val="solid"/>
          </a:ln>
        </p:spPr>
      </p:sp>
      <p:sp>
        <p:nvSpPr>
          <p:cNvPr id="11" name="Text 9"/>
          <p:cNvSpPr/>
          <p:nvPr/>
        </p:nvSpPr>
        <p:spPr>
          <a:xfrm>
            <a:off x="4846320" y="1554480"/>
            <a:ext cx="3840480" cy="347472"/>
          </a:xfrm>
          <a:prstGeom prst="rect">
            <a:avLst/>
          </a:prstGeom>
          <a:solidFill>
            <a:schemeClr val="accent6">
              <a:lumMod val="75000"/>
            </a:schemeClr>
          </a:solidFill>
          <a:ln>
            <a:solidFill>
              <a:schemeClr val="accent6">
                <a:lumMod val="75000"/>
              </a:schemeClr>
            </a:solidFill>
          </a:ln>
        </p:spPr>
        <p:txBody>
          <a:bodyPr wrap="square" lIns="0" tIns="0" rIns="0" bIns="0" rtlCol="0" anchor="ctr"/>
          <a:lstStyle/>
          <a:p>
            <a:pPr marL="0" indent="0">
              <a:buNone/>
            </a:pPr>
            <a:r>
              <a:rPr lang="en-US" sz="1000" b="1" kern="0" spc="100" dirty="0">
                <a:solidFill>
                  <a:srgbClr val="FFFFFF"/>
                </a:solidFill>
              </a:rPr>
              <a:t>FOUR QUESTIONS WE SET OUT TO ANSWER</a:t>
            </a:r>
            <a:endParaRPr lang="en-US" sz="1000" dirty="0"/>
          </a:p>
        </p:txBody>
      </p:sp>
      <p:sp>
        <p:nvSpPr>
          <p:cNvPr id="12" name="Shape 10"/>
          <p:cNvSpPr/>
          <p:nvPr/>
        </p:nvSpPr>
        <p:spPr>
          <a:xfrm>
            <a:off x="4892040" y="2011680"/>
            <a:ext cx="256032" cy="256032"/>
          </a:xfrm>
          <a:prstGeom prst="ellipse">
            <a:avLst/>
          </a:prstGeom>
          <a:solidFill>
            <a:schemeClr val="accent6">
              <a:lumMod val="75000"/>
            </a:schemeClr>
          </a:solidFill>
          <a:ln w="12700">
            <a:solidFill>
              <a:schemeClr val="accent6">
                <a:lumMod val="75000"/>
              </a:schemeClr>
            </a:solidFill>
            <a:prstDash val="solid"/>
          </a:ln>
        </p:spPr>
      </p:sp>
      <p:sp>
        <p:nvSpPr>
          <p:cNvPr id="13" name="Text 11"/>
          <p:cNvSpPr/>
          <p:nvPr/>
        </p:nvSpPr>
        <p:spPr>
          <a:xfrm>
            <a:off x="4892040" y="201168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4" name="Text 12"/>
          <p:cNvSpPr/>
          <p:nvPr/>
        </p:nvSpPr>
        <p:spPr>
          <a:xfrm>
            <a:off x="5230368" y="2029968"/>
            <a:ext cx="3383280" cy="274320"/>
          </a:xfrm>
          <a:prstGeom prst="rect">
            <a:avLst/>
          </a:prstGeom>
          <a:noFill/>
          <a:ln/>
        </p:spPr>
        <p:txBody>
          <a:bodyPr wrap="square" lIns="0" tIns="0" rIns="0" bIns="0" rtlCol="0" anchor="ctr"/>
          <a:lstStyle/>
          <a:p>
            <a:pPr marL="0" indent="0">
              <a:buNone/>
            </a:pPr>
            <a:r>
              <a:rPr lang="en-US" sz="1100" dirty="0">
                <a:solidFill>
                  <a:srgbClr val="2D2D2D"/>
                </a:solidFill>
              </a:rPr>
              <a:t>What are employee satisfaction levels across the company?</a:t>
            </a:r>
            <a:endParaRPr lang="en-US" sz="1100" dirty="0"/>
          </a:p>
        </p:txBody>
      </p:sp>
      <p:sp>
        <p:nvSpPr>
          <p:cNvPr id="15" name="Shape 13"/>
          <p:cNvSpPr/>
          <p:nvPr/>
        </p:nvSpPr>
        <p:spPr>
          <a:xfrm>
            <a:off x="4892040" y="2441448"/>
            <a:ext cx="256032" cy="256032"/>
          </a:xfrm>
          <a:prstGeom prst="ellipse">
            <a:avLst/>
          </a:prstGeom>
          <a:solidFill>
            <a:schemeClr val="accent6">
              <a:lumMod val="75000"/>
            </a:schemeClr>
          </a:solidFill>
          <a:ln w="12700">
            <a:solidFill>
              <a:schemeClr val="accent6">
                <a:lumMod val="75000"/>
              </a:schemeClr>
            </a:solidFill>
            <a:prstDash val="solid"/>
          </a:ln>
        </p:spPr>
      </p:sp>
      <p:sp>
        <p:nvSpPr>
          <p:cNvPr id="16" name="Text 14"/>
          <p:cNvSpPr/>
          <p:nvPr/>
        </p:nvSpPr>
        <p:spPr>
          <a:xfrm>
            <a:off x="4892040" y="244144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5230368" y="2459736"/>
            <a:ext cx="3383280" cy="274320"/>
          </a:xfrm>
          <a:prstGeom prst="rect">
            <a:avLst/>
          </a:prstGeom>
          <a:noFill/>
          <a:ln/>
        </p:spPr>
        <p:txBody>
          <a:bodyPr wrap="square" lIns="0" tIns="0" rIns="0" bIns="0" rtlCol="0" anchor="ctr"/>
          <a:lstStyle/>
          <a:p>
            <a:pPr marL="0" indent="0">
              <a:buNone/>
            </a:pPr>
            <a:r>
              <a:rPr lang="en-US" sz="1100" dirty="0">
                <a:solidFill>
                  <a:srgbClr val="2D2D2D"/>
                </a:solidFill>
              </a:rPr>
              <a:t>What factors are contributing to attrition?</a:t>
            </a:r>
            <a:endParaRPr lang="en-US" sz="1100" dirty="0"/>
          </a:p>
        </p:txBody>
      </p:sp>
      <p:sp>
        <p:nvSpPr>
          <p:cNvPr id="18" name="Shape 16"/>
          <p:cNvSpPr/>
          <p:nvPr/>
        </p:nvSpPr>
        <p:spPr>
          <a:xfrm>
            <a:off x="4892040" y="2871216"/>
            <a:ext cx="256032" cy="256032"/>
          </a:xfrm>
          <a:prstGeom prst="ellipse">
            <a:avLst/>
          </a:prstGeom>
          <a:solidFill>
            <a:schemeClr val="accent6">
              <a:lumMod val="75000"/>
            </a:schemeClr>
          </a:solidFill>
          <a:ln w="12700">
            <a:solidFill>
              <a:schemeClr val="accent6">
                <a:lumMod val="75000"/>
              </a:schemeClr>
            </a:solidFill>
            <a:prstDash val="solid"/>
          </a:ln>
        </p:spPr>
      </p:sp>
      <p:sp>
        <p:nvSpPr>
          <p:cNvPr id="19" name="Text 17"/>
          <p:cNvSpPr/>
          <p:nvPr/>
        </p:nvSpPr>
        <p:spPr>
          <a:xfrm>
            <a:off x="4892040" y="287121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5230368" y="2889504"/>
            <a:ext cx="3383280" cy="274320"/>
          </a:xfrm>
          <a:prstGeom prst="rect">
            <a:avLst/>
          </a:prstGeom>
          <a:noFill/>
          <a:ln/>
        </p:spPr>
        <p:txBody>
          <a:bodyPr wrap="square" lIns="0" tIns="0" rIns="0" bIns="0" rtlCol="0" anchor="ctr"/>
          <a:lstStyle/>
          <a:p>
            <a:pPr marL="0" indent="0">
              <a:buNone/>
            </a:pPr>
            <a:r>
              <a:rPr lang="en-US" sz="1100" dirty="0">
                <a:solidFill>
                  <a:srgbClr val="2D2D2D"/>
                </a:solidFill>
              </a:rPr>
              <a:t>Which employee segments are most at risk?</a:t>
            </a:r>
            <a:endParaRPr lang="en-US" sz="1100" dirty="0"/>
          </a:p>
        </p:txBody>
      </p:sp>
      <p:sp>
        <p:nvSpPr>
          <p:cNvPr id="22" name="Text 20"/>
          <p:cNvSpPr/>
          <p:nvPr/>
        </p:nvSpPr>
        <p:spPr>
          <a:xfrm>
            <a:off x="4892040" y="3291840"/>
            <a:ext cx="256032" cy="256032"/>
          </a:xfrm>
          <a:prstGeom prst="flowChartConnector">
            <a:avLst/>
          </a:prstGeom>
          <a:solidFill>
            <a:schemeClr val="accent6">
              <a:lumMod val="75000"/>
            </a:schemeClr>
          </a:solid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5230368" y="3319272"/>
            <a:ext cx="3383280" cy="274320"/>
          </a:xfrm>
          <a:prstGeom prst="rect">
            <a:avLst/>
          </a:prstGeom>
          <a:noFill/>
          <a:ln/>
        </p:spPr>
        <p:txBody>
          <a:bodyPr wrap="square" lIns="0" tIns="0" rIns="0" bIns="0" rtlCol="0" anchor="ctr"/>
          <a:lstStyle/>
          <a:p>
            <a:pPr marL="0" indent="0">
              <a:buNone/>
            </a:pPr>
            <a:r>
              <a:rPr lang="en-US" sz="1100" dirty="0">
                <a:solidFill>
                  <a:srgbClr val="2D2D2D"/>
                </a:solidFill>
              </a:rPr>
              <a:t>What should HR do about it?</a:t>
            </a:r>
            <a:endParaRPr lang="en-US" sz="1100" dirty="0"/>
          </a:p>
        </p:txBody>
      </p:sp>
      <p:sp>
        <p:nvSpPr>
          <p:cNvPr id="27" name="Text 25"/>
          <p:cNvSpPr/>
          <p:nvPr/>
        </p:nvSpPr>
        <p:spPr>
          <a:xfrm>
            <a:off x="1005840" y="4261104"/>
            <a:ext cx="7589520" cy="292608"/>
          </a:xfrm>
          <a:prstGeom prst="rect">
            <a:avLst/>
          </a:prstGeom>
          <a:noFill/>
          <a:ln/>
        </p:spPr>
        <p:txBody>
          <a:bodyPr wrap="square" lIns="0" tIns="0" rIns="0" bIns="0" rtlCol="0" anchor="ctr"/>
          <a:lstStyle/>
          <a:p>
            <a:pPr marL="0" indent="0">
              <a:buNone/>
            </a:pPr>
            <a:r>
              <a:rPr lang="en-US" sz="1300" b="1" dirty="0">
                <a:solidFill>
                  <a:srgbClr val="FFFFFF"/>
                </a:solidFill>
              </a:rPr>
              <a:t>Overall Attrition Rate: 39.2%, nearly 4 in every 10 employees left in 2024</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no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1100" b="1" kern="0" spc="300" dirty="0">
                <a:solidFill>
                  <a:schemeClr val="bg1"/>
                </a:solidFill>
              </a:rPr>
              <a:t>DATA CLEANING SUMMARY</a:t>
            </a:r>
            <a:endParaRPr lang="en-US" sz="1100" dirty="0">
              <a:solidFill>
                <a:schemeClr val="bg1"/>
              </a:solidFill>
            </a:endParaRPr>
          </a:p>
        </p:txBody>
      </p:sp>
      <p:sp>
        <p:nvSpPr>
          <p:cNvPr id="4" name="Text 2"/>
          <p:cNvSpPr/>
          <p:nvPr/>
        </p:nvSpPr>
        <p:spPr>
          <a:xfrm>
            <a:off x="365760" y="914400"/>
            <a:ext cx="8229600" cy="502920"/>
          </a:xfrm>
          <a:prstGeom prst="rect">
            <a:avLst/>
          </a:prstGeom>
          <a:noFill/>
          <a:ln/>
        </p:spPr>
        <p:txBody>
          <a:bodyPr wrap="square" lIns="0" tIns="0" rIns="0" bIns="0" rtlCol="0" anchor="ctr"/>
          <a:lstStyle/>
          <a:p>
            <a:pPr marL="0" indent="0">
              <a:buNone/>
            </a:pPr>
            <a:r>
              <a:rPr lang="en-US" sz="2600" b="1" dirty="0">
                <a:solidFill>
                  <a:schemeClr val="bg1"/>
                </a:solidFill>
              </a:rPr>
              <a:t>From Raw Data to Reliable Insights</a:t>
            </a:r>
            <a:endParaRPr lang="en-US" sz="2600" dirty="0">
              <a:solidFill>
                <a:schemeClr val="bg1"/>
              </a:solidFill>
            </a:endParaRPr>
          </a:p>
        </p:txBody>
      </p:sp>
      <p:sp>
        <p:nvSpPr>
          <p:cNvPr id="5" name="Text 3"/>
          <p:cNvSpPr/>
          <p:nvPr/>
        </p:nvSpPr>
        <p:spPr>
          <a:xfrm>
            <a:off x="365760" y="1463040"/>
            <a:ext cx="8412480" cy="320040"/>
          </a:xfrm>
          <a:prstGeom prst="rect">
            <a:avLst/>
          </a:prstGeom>
          <a:noFill/>
          <a:ln/>
        </p:spPr>
        <p:txBody>
          <a:bodyPr wrap="square" lIns="0" tIns="0" rIns="0" bIns="0" rtlCol="0" anchor="ctr"/>
          <a:lstStyle/>
          <a:p>
            <a:pPr marL="0" indent="0">
              <a:buNone/>
            </a:pPr>
            <a:endParaRPr lang="en-US" sz="1300" dirty="0">
              <a:solidFill>
                <a:schemeClr val="bg1"/>
              </a:solidFill>
            </a:endParaRPr>
          </a:p>
        </p:txBody>
      </p:sp>
      <p:sp>
        <p:nvSpPr>
          <p:cNvPr id="6" name="Shape 4"/>
          <p:cNvSpPr/>
          <p:nvPr/>
        </p:nvSpPr>
        <p:spPr>
          <a:xfrm>
            <a:off x="365760" y="1920240"/>
            <a:ext cx="2651760" cy="269748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7" name="Shape 5"/>
          <p:cNvSpPr/>
          <p:nvPr/>
        </p:nvSpPr>
        <p:spPr>
          <a:xfrm>
            <a:off x="365760" y="1920240"/>
            <a:ext cx="2651760" cy="411480"/>
          </a:xfrm>
          <a:prstGeom prst="rect">
            <a:avLst/>
          </a:prstGeom>
          <a:blipFill>
            <a:blip r:embed="rId3"/>
            <a:stretch>
              <a:fillRect/>
            </a:stretch>
          </a:blipFill>
          <a:ln w="12700">
            <a:solidFill>
              <a:schemeClr val="accent6">
                <a:lumMod val="50000"/>
              </a:schemeClr>
            </a:solidFill>
            <a:prstDash val="solid"/>
          </a:ln>
        </p:spPr>
      </p:sp>
      <p:sp>
        <p:nvSpPr>
          <p:cNvPr id="8" name="Text 6"/>
          <p:cNvSpPr/>
          <p:nvPr/>
        </p:nvSpPr>
        <p:spPr>
          <a:xfrm>
            <a:off x="457200" y="1920240"/>
            <a:ext cx="2468880" cy="411480"/>
          </a:xfrm>
          <a:prstGeom prst="rect">
            <a:avLst/>
          </a:prstGeom>
          <a:blipFill>
            <a:blip r:embed="rId3"/>
            <a:stretch>
              <a:fillRect/>
            </a:stretch>
          </a:blipFill>
          <a:ln>
            <a:solidFill>
              <a:schemeClr val="accent6">
                <a:lumMod val="50000"/>
              </a:schemeClr>
            </a:solidFill>
          </a:ln>
        </p:spPr>
        <p:txBody>
          <a:bodyPr wrap="square" lIns="0" tIns="0" rIns="0" bIns="0" rtlCol="0" anchor="ctr"/>
          <a:lstStyle/>
          <a:p>
            <a:pPr marL="0" indent="0">
              <a:buNone/>
            </a:pPr>
            <a:r>
              <a:rPr lang="en-US" sz="950" b="1" dirty="0">
                <a:solidFill>
                  <a:srgbClr val="FFFFFF"/>
                </a:solidFill>
              </a:rPr>
              <a:t>01  STANDARDISATION</a:t>
            </a:r>
            <a:endParaRPr lang="en-US" sz="950" dirty="0"/>
          </a:p>
        </p:txBody>
      </p:sp>
      <p:sp>
        <p:nvSpPr>
          <p:cNvPr id="9" name="Text 7"/>
          <p:cNvSpPr/>
          <p:nvPr/>
        </p:nvSpPr>
        <p:spPr>
          <a:xfrm>
            <a:off x="502920" y="2423160"/>
            <a:ext cx="2377440" cy="2011680"/>
          </a:xfrm>
          <a:prstGeom prst="rect">
            <a:avLst/>
          </a:prstGeom>
          <a:noFill/>
          <a:ln/>
        </p:spPr>
        <p:txBody>
          <a:bodyPr wrap="square" lIns="0" tIns="0" rIns="0" bIns="0" rtlCol="0" anchor="t"/>
          <a:lstStyle/>
          <a:p>
            <a:pPr marL="0" indent="0">
              <a:buNone/>
            </a:pPr>
            <a:r>
              <a:rPr lang="en-US" sz="1100" dirty="0">
                <a:solidFill>
                  <a:srgbClr val="2D2D2D"/>
                </a:solidFill>
              </a:rPr>
              <a:t>Values like "Yes", "YES", "Y" and blanks were unified into consistent Yes/No formats across columns including Benefits Enrolled, Attrition, and Employment Status. All text inconsistencies were resolved. </a:t>
            </a:r>
            <a:endParaRPr lang="en-US" sz="1100" dirty="0"/>
          </a:p>
        </p:txBody>
      </p:sp>
      <p:sp>
        <p:nvSpPr>
          <p:cNvPr id="10" name="Shape 8"/>
          <p:cNvSpPr/>
          <p:nvPr/>
        </p:nvSpPr>
        <p:spPr>
          <a:xfrm>
            <a:off x="3200400" y="1920240"/>
            <a:ext cx="2651760" cy="269748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11" name="Shape 9"/>
          <p:cNvSpPr/>
          <p:nvPr/>
        </p:nvSpPr>
        <p:spPr>
          <a:xfrm>
            <a:off x="3200400" y="1920240"/>
            <a:ext cx="2651760" cy="411480"/>
          </a:xfrm>
          <a:prstGeom prst="rect">
            <a:avLst/>
          </a:prstGeom>
          <a:blipFill>
            <a:blip r:embed="rId3"/>
            <a:stretch>
              <a:fillRect/>
            </a:stretch>
          </a:blipFill>
          <a:ln w="12700">
            <a:solidFill>
              <a:schemeClr val="accent6">
                <a:lumMod val="50000"/>
              </a:schemeClr>
            </a:solidFill>
            <a:prstDash val="solid"/>
          </a:ln>
        </p:spPr>
      </p:sp>
      <p:sp>
        <p:nvSpPr>
          <p:cNvPr id="12" name="Text 10"/>
          <p:cNvSpPr/>
          <p:nvPr/>
        </p:nvSpPr>
        <p:spPr>
          <a:xfrm>
            <a:off x="3291840" y="1920240"/>
            <a:ext cx="2468880" cy="411480"/>
          </a:xfrm>
          <a:prstGeom prst="rect">
            <a:avLst/>
          </a:prstGeom>
          <a:noFill/>
          <a:ln/>
        </p:spPr>
        <p:txBody>
          <a:bodyPr wrap="square" lIns="0" tIns="0" rIns="0" bIns="0" rtlCol="0" anchor="ctr"/>
          <a:lstStyle/>
          <a:p>
            <a:pPr marL="0" indent="0">
              <a:buNone/>
            </a:pPr>
            <a:r>
              <a:rPr lang="en-US" sz="950" b="1" dirty="0">
                <a:solidFill>
                  <a:srgbClr val="FFFFFF"/>
                </a:solidFill>
              </a:rPr>
              <a:t>02  MISSING VALUES</a:t>
            </a:r>
            <a:endParaRPr lang="en-US" sz="950" dirty="0"/>
          </a:p>
        </p:txBody>
      </p:sp>
      <p:sp>
        <p:nvSpPr>
          <p:cNvPr id="13" name="Text 11"/>
          <p:cNvSpPr/>
          <p:nvPr/>
        </p:nvSpPr>
        <p:spPr>
          <a:xfrm>
            <a:off x="3337560" y="2423160"/>
            <a:ext cx="2377440" cy="2011680"/>
          </a:xfrm>
          <a:prstGeom prst="rect">
            <a:avLst/>
          </a:prstGeom>
          <a:noFill/>
          <a:ln/>
        </p:spPr>
        <p:txBody>
          <a:bodyPr wrap="square" lIns="0" tIns="0" rIns="0" bIns="0" rtlCol="0" anchor="t"/>
          <a:lstStyle/>
          <a:p>
            <a:pPr marL="0" indent="0">
              <a:buNone/>
            </a:pPr>
            <a:r>
              <a:rPr lang="en-US" sz="1100" dirty="0">
                <a:solidFill>
                  <a:srgbClr val="2D2D2D"/>
                </a:solidFill>
              </a:rPr>
              <a:t>Blanks in Benefits Enrolled were treated as "No" based on HR enrollment logic, documented as an assumption. Other blanks such as Sick Days were flagged separately as N/A to maintain data integrity.</a:t>
            </a:r>
            <a:endParaRPr lang="en-US" sz="1100" dirty="0"/>
          </a:p>
        </p:txBody>
      </p:sp>
      <p:sp>
        <p:nvSpPr>
          <p:cNvPr id="14" name="Shape 12"/>
          <p:cNvSpPr/>
          <p:nvPr/>
        </p:nvSpPr>
        <p:spPr>
          <a:xfrm>
            <a:off x="6035040" y="1920240"/>
            <a:ext cx="2651760" cy="269748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15" name="Shape 13"/>
          <p:cNvSpPr/>
          <p:nvPr/>
        </p:nvSpPr>
        <p:spPr>
          <a:xfrm>
            <a:off x="6035040" y="1920240"/>
            <a:ext cx="2651760" cy="411480"/>
          </a:xfrm>
          <a:prstGeom prst="rect">
            <a:avLst/>
          </a:prstGeom>
          <a:blipFill>
            <a:blip r:embed="rId3"/>
            <a:stretch>
              <a:fillRect/>
            </a:stretch>
          </a:blipFill>
          <a:ln w="12700">
            <a:solidFill>
              <a:schemeClr val="accent6">
                <a:lumMod val="50000"/>
              </a:schemeClr>
            </a:solidFill>
            <a:prstDash val="solid"/>
          </a:ln>
        </p:spPr>
      </p:sp>
      <p:sp>
        <p:nvSpPr>
          <p:cNvPr id="16" name="Text 14"/>
          <p:cNvSpPr/>
          <p:nvPr/>
        </p:nvSpPr>
        <p:spPr>
          <a:xfrm>
            <a:off x="6126480" y="1920240"/>
            <a:ext cx="2468880" cy="411480"/>
          </a:xfrm>
          <a:prstGeom prst="rect">
            <a:avLst/>
          </a:prstGeom>
          <a:noFill/>
          <a:ln/>
        </p:spPr>
        <p:txBody>
          <a:bodyPr wrap="square" lIns="0" tIns="0" rIns="0" bIns="0" rtlCol="0" anchor="ctr"/>
          <a:lstStyle/>
          <a:p>
            <a:pPr marL="0" indent="0">
              <a:buNone/>
            </a:pPr>
            <a:r>
              <a:rPr lang="en-US" sz="950" b="1" dirty="0">
                <a:solidFill>
                  <a:srgbClr val="FFFFFF"/>
                </a:solidFill>
              </a:rPr>
              <a:t>03  NEW COLUMNS CREATED</a:t>
            </a:r>
            <a:endParaRPr lang="en-US" sz="950" dirty="0"/>
          </a:p>
        </p:txBody>
      </p:sp>
      <p:sp>
        <p:nvSpPr>
          <p:cNvPr id="17" name="Text 15"/>
          <p:cNvSpPr/>
          <p:nvPr/>
        </p:nvSpPr>
        <p:spPr>
          <a:xfrm>
            <a:off x="6172200" y="2423160"/>
            <a:ext cx="2377440" cy="2011680"/>
          </a:xfrm>
          <a:prstGeom prst="rect">
            <a:avLst/>
          </a:prstGeom>
          <a:noFill/>
          <a:ln/>
        </p:spPr>
        <p:txBody>
          <a:bodyPr wrap="square" lIns="0" tIns="0" rIns="0" bIns="0" rtlCol="0" anchor="t"/>
          <a:lstStyle/>
          <a:p>
            <a:pPr marL="0" indent="0">
              <a:buNone/>
            </a:pPr>
            <a:r>
              <a:rPr lang="en-US" sz="1100" dirty="0">
                <a:solidFill>
                  <a:srgbClr val="2D2D2D"/>
                </a:solidFill>
              </a:rPr>
              <a:t>Age groups (Under 30, 30-40, 40-50, 50+), Salary bands (Below $55K through $65K+), and Joining Year were derived from raw fields to enable cleaner, more meaningful analysis.</a:t>
            </a:r>
            <a:endParaRPr lang="en-US" sz="1100" dirty="0"/>
          </a:p>
        </p:txBody>
      </p:sp>
      <p:sp>
        <p:nvSpPr>
          <p:cNvPr id="19" name="Text 17"/>
          <p:cNvSpPr/>
          <p:nvPr/>
        </p:nvSpPr>
        <p:spPr>
          <a:xfrm>
            <a:off x="502920" y="4727448"/>
            <a:ext cx="8229600" cy="237744"/>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2">
            <a:extLst>
              <a:ext uri="{FF2B5EF4-FFF2-40B4-BE49-F238E27FC236}">
                <a16:creationId xmlns:a16="http://schemas.microsoft.com/office/drawing/2014/main" id="{9E48DB66-2C6E-9A69-14A8-1B78ED5AAB60}"/>
              </a:ext>
            </a:extLst>
          </p:cNvPr>
          <p:cNvSpPr/>
          <p:nvPr/>
        </p:nvSpPr>
        <p:spPr>
          <a:xfrm>
            <a:off x="228600" y="606136"/>
            <a:ext cx="2651760" cy="269748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txBody>
          <a:bodyPr/>
          <a:lstStyle/>
          <a:p>
            <a:r>
              <a:rPr lang="en-US" dirty="0" err="1"/>
              <a:t>tthhh</a:t>
            </a:r>
            <a:endParaRPr lang="en-KE" dirty="0"/>
          </a:p>
        </p:txBody>
      </p:sp>
      <p:sp>
        <p:nvSpPr>
          <p:cNvPr id="4" name="Text 6">
            <a:extLst>
              <a:ext uri="{FF2B5EF4-FFF2-40B4-BE49-F238E27FC236}">
                <a16:creationId xmlns:a16="http://schemas.microsoft.com/office/drawing/2014/main" id="{DDAAD3DE-A241-D3B3-91FD-961426090318}"/>
              </a:ext>
            </a:extLst>
          </p:cNvPr>
          <p:cNvSpPr/>
          <p:nvPr/>
        </p:nvSpPr>
        <p:spPr>
          <a:xfrm>
            <a:off x="209204" y="571500"/>
            <a:ext cx="2651760" cy="411480"/>
          </a:xfrm>
          <a:prstGeom prst="rect">
            <a:avLst/>
          </a:prstGeom>
          <a:blipFill>
            <a:blip r:embed="rId2"/>
            <a:stretch>
              <a:fillRect/>
            </a:stretch>
          </a:blipFill>
          <a:ln>
            <a:solidFill>
              <a:schemeClr val="accent6">
                <a:lumMod val="50000"/>
              </a:schemeClr>
            </a:solidFill>
          </a:ln>
        </p:spPr>
        <p:txBody>
          <a:bodyPr wrap="square" lIns="0" tIns="0" rIns="0" bIns="0" rtlCol="0" anchor="ctr"/>
          <a:lstStyle/>
          <a:p>
            <a:pPr marL="0" indent="0">
              <a:buNone/>
            </a:pPr>
            <a:r>
              <a:rPr lang="en-US" sz="950" b="1" dirty="0">
                <a:solidFill>
                  <a:srgbClr val="FFFFFF"/>
                </a:solidFill>
              </a:rPr>
              <a:t>    04  EMAIL COLUMN</a:t>
            </a:r>
            <a:endParaRPr lang="en-US" sz="950" dirty="0"/>
          </a:p>
        </p:txBody>
      </p:sp>
      <p:sp>
        <p:nvSpPr>
          <p:cNvPr id="7" name="Text 7">
            <a:extLst>
              <a:ext uri="{FF2B5EF4-FFF2-40B4-BE49-F238E27FC236}">
                <a16:creationId xmlns:a16="http://schemas.microsoft.com/office/drawing/2014/main" id="{D5CB05A4-AA7A-AFFC-5E7D-80FE74FB65D6}"/>
              </a:ext>
            </a:extLst>
          </p:cNvPr>
          <p:cNvSpPr/>
          <p:nvPr/>
        </p:nvSpPr>
        <p:spPr>
          <a:xfrm>
            <a:off x="502920" y="1129145"/>
            <a:ext cx="2377440" cy="1690255"/>
          </a:xfrm>
          <a:prstGeom prst="rect">
            <a:avLst/>
          </a:prstGeom>
          <a:noFill/>
          <a:ln/>
        </p:spPr>
        <p:txBody>
          <a:bodyPr wrap="square" lIns="0" tIns="0" rIns="0" bIns="0" rtlCol="0" anchor="t"/>
          <a:lstStyle/>
          <a:p>
            <a:pPr marL="0" indent="0">
              <a:buNone/>
            </a:pPr>
            <a:r>
              <a:rPr lang="en-US" sz="1100" dirty="0">
                <a:solidFill>
                  <a:srgbClr val="2D2D2D"/>
                </a:solidFill>
              </a:rPr>
              <a:t>The was a new email format created, it took the first name and last name, then added the numerical in the employee ID to avoid duplicates for employees who has same first and last name</a:t>
            </a:r>
            <a:endParaRPr lang="en-US" sz="1100" dirty="0"/>
          </a:p>
        </p:txBody>
      </p:sp>
    </p:spTree>
    <p:extLst>
      <p:ext uri="{BB962C8B-B14F-4D97-AF65-F5344CB8AC3E}">
        <p14:creationId xmlns:p14="http://schemas.microsoft.com/office/powerpoint/2010/main" val="351867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solidFill>
              <a:schemeClr val="accent6">
                <a:lumMod val="50000"/>
              </a:schemeClr>
            </a:solid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endParaRPr lang="en-US" sz="1100" dirty="0"/>
          </a:p>
        </p:txBody>
      </p:sp>
      <p:sp>
        <p:nvSpPr>
          <p:cNvPr id="4" name="Text 2"/>
          <p:cNvSpPr/>
          <p:nvPr/>
        </p:nvSpPr>
        <p:spPr>
          <a:xfrm>
            <a:off x="365760" y="914400"/>
            <a:ext cx="8229600" cy="457200"/>
          </a:xfrm>
          <a:prstGeom prst="rect">
            <a:avLst/>
          </a:prstGeom>
          <a:noFill/>
          <a:ln/>
        </p:spPr>
        <p:txBody>
          <a:bodyPr wrap="square" lIns="0" tIns="0" rIns="0" bIns="0" rtlCol="0" anchor="ctr"/>
          <a:lstStyle/>
          <a:p>
            <a:pPr marL="0" indent="0">
              <a:buNone/>
            </a:pPr>
            <a:r>
              <a:rPr lang="en-US" sz="2600" b="1" dirty="0">
                <a:solidFill>
                  <a:schemeClr val="bg1"/>
                </a:solidFill>
              </a:rPr>
              <a:t>Who Are Our Employees?</a:t>
            </a:r>
            <a:endParaRPr lang="en-US" sz="2600" dirty="0">
              <a:solidFill>
                <a:schemeClr val="bg1"/>
              </a:solidFill>
            </a:endParaRPr>
          </a:p>
        </p:txBody>
      </p:sp>
      <p:sp>
        <p:nvSpPr>
          <p:cNvPr id="5" name="Shape 3"/>
          <p:cNvSpPr/>
          <p:nvPr/>
        </p:nvSpPr>
        <p:spPr>
          <a:xfrm>
            <a:off x="320040" y="1463040"/>
            <a:ext cx="2606040" cy="105156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6" name="Shape 4"/>
          <p:cNvSpPr/>
          <p:nvPr/>
        </p:nvSpPr>
        <p:spPr>
          <a:xfrm>
            <a:off x="320040" y="146304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7" name="Text 5"/>
          <p:cNvSpPr/>
          <p:nvPr/>
        </p:nvSpPr>
        <p:spPr>
          <a:xfrm>
            <a:off x="484632" y="1572768"/>
            <a:ext cx="2331720" cy="502920"/>
          </a:xfrm>
          <a:prstGeom prst="rect">
            <a:avLst/>
          </a:prstGeom>
          <a:noFill/>
          <a:ln/>
        </p:spPr>
        <p:txBody>
          <a:bodyPr wrap="square" lIns="0" tIns="0" rIns="0" bIns="0" rtlCol="0" anchor="ctr"/>
          <a:lstStyle/>
          <a:p>
            <a:pPr marL="0" indent="0">
              <a:buNone/>
            </a:pPr>
            <a:r>
              <a:rPr lang="en-US" sz="2600" b="1" dirty="0">
                <a:solidFill>
                  <a:srgbClr val="1D4E6B"/>
                </a:solidFill>
              </a:rPr>
              <a:t>1,000</a:t>
            </a:r>
            <a:endParaRPr lang="en-US" sz="2600" dirty="0"/>
          </a:p>
        </p:txBody>
      </p:sp>
      <p:sp>
        <p:nvSpPr>
          <p:cNvPr id="8" name="Text 6"/>
          <p:cNvSpPr/>
          <p:nvPr/>
        </p:nvSpPr>
        <p:spPr>
          <a:xfrm>
            <a:off x="484632" y="2057400"/>
            <a:ext cx="2331720" cy="320040"/>
          </a:xfrm>
          <a:prstGeom prst="rect">
            <a:avLst/>
          </a:prstGeom>
          <a:noFill/>
          <a:ln/>
        </p:spPr>
        <p:txBody>
          <a:bodyPr wrap="square" lIns="0" tIns="0" rIns="0" bIns="0" rtlCol="0" anchor="ctr"/>
          <a:lstStyle/>
          <a:p>
            <a:pPr marL="0" indent="0">
              <a:buNone/>
            </a:pPr>
            <a:r>
              <a:rPr lang="en-US" sz="1000" dirty="0">
                <a:solidFill>
                  <a:srgbClr val="666666"/>
                </a:solidFill>
              </a:rPr>
              <a:t>Total Employees</a:t>
            </a:r>
            <a:endParaRPr lang="en-US" sz="1000" dirty="0"/>
          </a:p>
        </p:txBody>
      </p:sp>
      <p:sp>
        <p:nvSpPr>
          <p:cNvPr id="9" name="Shape 7"/>
          <p:cNvSpPr/>
          <p:nvPr/>
        </p:nvSpPr>
        <p:spPr>
          <a:xfrm>
            <a:off x="3154680" y="1463040"/>
            <a:ext cx="2606040" cy="105156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10" name="Shape 8"/>
          <p:cNvSpPr/>
          <p:nvPr/>
        </p:nvSpPr>
        <p:spPr>
          <a:xfrm>
            <a:off x="3154680" y="146304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1" name="Text 9"/>
          <p:cNvSpPr/>
          <p:nvPr/>
        </p:nvSpPr>
        <p:spPr>
          <a:xfrm>
            <a:off x="3319272" y="1572768"/>
            <a:ext cx="2331720" cy="502920"/>
          </a:xfrm>
          <a:prstGeom prst="rect">
            <a:avLst/>
          </a:prstGeom>
          <a:noFill/>
          <a:ln/>
        </p:spPr>
        <p:txBody>
          <a:bodyPr wrap="square" lIns="0" tIns="0" rIns="0" bIns="0" rtlCol="0" anchor="ctr"/>
          <a:lstStyle/>
          <a:p>
            <a:pPr marL="0" indent="0">
              <a:buNone/>
            </a:pPr>
            <a:r>
              <a:rPr lang="en-US" sz="2600" b="1" dirty="0">
                <a:solidFill>
                  <a:srgbClr val="E84855"/>
                </a:solidFill>
              </a:rPr>
              <a:t>39.2%</a:t>
            </a:r>
            <a:endParaRPr lang="en-US" sz="2600" dirty="0"/>
          </a:p>
        </p:txBody>
      </p:sp>
      <p:sp>
        <p:nvSpPr>
          <p:cNvPr id="12" name="Text 10"/>
          <p:cNvSpPr/>
          <p:nvPr/>
        </p:nvSpPr>
        <p:spPr>
          <a:xfrm>
            <a:off x="3319272" y="2057400"/>
            <a:ext cx="2331720" cy="320040"/>
          </a:xfrm>
          <a:prstGeom prst="rect">
            <a:avLst/>
          </a:prstGeom>
          <a:noFill/>
          <a:ln/>
        </p:spPr>
        <p:txBody>
          <a:bodyPr wrap="square" lIns="0" tIns="0" rIns="0" bIns="0" rtlCol="0" anchor="ctr"/>
          <a:lstStyle/>
          <a:p>
            <a:pPr marL="0" indent="0">
              <a:buNone/>
            </a:pPr>
            <a:r>
              <a:rPr lang="en-US" sz="1000" dirty="0">
                <a:solidFill>
                  <a:srgbClr val="666666"/>
                </a:solidFill>
              </a:rPr>
              <a:t>Attrition Rate</a:t>
            </a:r>
            <a:endParaRPr lang="en-US" sz="1000" dirty="0"/>
          </a:p>
        </p:txBody>
      </p:sp>
      <p:sp>
        <p:nvSpPr>
          <p:cNvPr id="13" name="Shape 11"/>
          <p:cNvSpPr/>
          <p:nvPr/>
        </p:nvSpPr>
        <p:spPr>
          <a:xfrm>
            <a:off x="5989320" y="1463040"/>
            <a:ext cx="2606040" cy="105156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14" name="Shape 12"/>
          <p:cNvSpPr/>
          <p:nvPr/>
        </p:nvSpPr>
        <p:spPr>
          <a:xfrm>
            <a:off x="5989320" y="146304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5" name="Text 13"/>
          <p:cNvSpPr/>
          <p:nvPr/>
        </p:nvSpPr>
        <p:spPr>
          <a:xfrm>
            <a:off x="6153912" y="1572768"/>
            <a:ext cx="2331720" cy="502920"/>
          </a:xfrm>
          <a:prstGeom prst="rect">
            <a:avLst/>
          </a:prstGeom>
          <a:noFill/>
          <a:ln/>
        </p:spPr>
        <p:txBody>
          <a:bodyPr wrap="square" lIns="0" tIns="0" rIns="0" bIns="0" rtlCol="0" anchor="ctr"/>
          <a:lstStyle/>
          <a:p>
            <a:pPr marL="0" indent="0">
              <a:buNone/>
            </a:pPr>
            <a:r>
              <a:rPr lang="en-US" sz="2600" b="1" dirty="0">
                <a:solidFill>
                  <a:srgbClr val="E84855"/>
                </a:solidFill>
              </a:rPr>
              <a:t>2.92/5</a:t>
            </a:r>
            <a:endParaRPr lang="en-US" sz="2600" dirty="0"/>
          </a:p>
        </p:txBody>
      </p:sp>
      <p:sp>
        <p:nvSpPr>
          <p:cNvPr id="16" name="Text 14"/>
          <p:cNvSpPr/>
          <p:nvPr/>
        </p:nvSpPr>
        <p:spPr>
          <a:xfrm>
            <a:off x="6153912" y="2057400"/>
            <a:ext cx="2331720" cy="320040"/>
          </a:xfrm>
          <a:prstGeom prst="rect">
            <a:avLst/>
          </a:prstGeom>
          <a:noFill/>
          <a:ln/>
        </p:spPr>
        <p:txBody>
          <a:bodyPr wrap="square" lIns="0" tIns="0" rIns="0" bIns="0" rtlCol="0" anchor="ctr"/>
          <a:lstStyle/>
          <a:p>
            <a:pPr marL="0" indent="0">
              <a:buNone/>
            </a:pPr>
            <a:r>
              <a:rPr lang="en-US" sz="1000" dirty="0">
                <a:solidFill>
                  <a:srgbClr val="666666"/>
                </a:solidFill>
              </a:rPr>
              <a:t>Avg Satisfaction</a:t>
            </a:r>
            <a:endParaRPr lang="en-US" sz="1000" dirty="0"/>
          </a:p>
        </p:txBody>
      </p:sp>
      <p:sp>
        <p:nvSpPr>
          <p:cNvPr id="17" name="Shape 15"/>
          <p:cNvSpPr/>
          <p:nvPr/>
        </p:nvSpPr>
        <p:spPr>
          <a:xfrm>
            <a:off x="320040" y="2788920"/>
            <a:ext cx="2606040" cy="105156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18" name="Shape 16"/>
          <p:cNvSpPr/>
          <p:nvPr/>
        </p:nvSpPr>
        <p:spPr>
          <a:xfrm>
            <a:off x="320040" y="278892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9" name="Text 17"/>
          <p:cNvSpPr/>
          <p:nvPr/>
        </p:nvSpPr>
        <p:spPr>
          <a:xfrm>
            <a:off x="484632" y="2898648"/>
            <a:ext cx="2331720" cy="502920"/>
          </a:xfrm>
          <a:prstGeom prst="rect">
            <a:avLst/>
          </a:prstGeom>
          <a:noFill/>
          <a:ln/>
        </p:spPr>
        <p:txBody>
          <a:bodyPr wrap="square" lIns="0" tIns="0" rIns="0" bIns="0" rtlCol="0" anchor="ctr"/>
          <a:lstStyle/>
          <a:p>
            <a:pPr marL="0" indent="0">
              <a:buNone/>
            </a:pPr>
            <a:r>
              <a:rPr lang="en-US" sz="2600" b="1" dirty="0">
                <a:solidFill>
                  <a:srgbClr val="2E86AB"/>
                </a:solidFill>
              </a:rPr>
              <a:t>$60,208</a:t>
            </a:r>
            <a:endParaRPr lang="en-US" sz="2600" dirty="0"/>
          </a:p>
        </p:txBody>
      </p:sp>
      <p:sp>
        <p:nvSpPr>
          <p:cNvPr id="20" name="Text 18"/>
          <p:cNvSpPr/>
          <p:nvPr/>
        </p:nvSpPr>
        <p:spPr>
          <a:xfrm>
            <a:off x="484632" y="3383280"/>
            <a:ext cx="2331720" cy="320040"/>
          </a:xfrm>
          <a:prstGeom prst="rect">
            <a:avLst/>
          </a:prstGeom>
          <a:noFill/>
          <a:ln/>
        </p:spPr>
        <p:txBody>
          <a:bodyPr wrap="square" lIns="0" tIns="0" rIns="0" bIns="0" rtlCol="0" anchor="ctr"/>
          <a:lstStyle/>
          <a:p>
            <a:pPr marL="0" indent="0">
              <a:buNone/>
            </a:pPr>
            <a:r>
              <a:rPr lang="en-US" sz="1000" dirty="0">
                <a:solidFill>
                  <a:srgbClr val="666666"/>
                </a:solidFill>
              </a:rPr>
              <a:t>Avg Salary</a:t>
            </a:r>
            <a:endParaRPr lang="en-US" sz="1000" dirty="0"/>
          </a:p>
        </p:txBody>
      </p:sp>
      <p:sp>
        <p:nvSpPr>
          <p:cNvPr id="21" name="Shape 19"/>
          <p:cNvSpPr/>
          <p:nvPr/>
        </p:nvSpPr>
        <p:spPr>
          <a:xfrm>
            <a:off x="3154680" y="2788920"/>
            <a:ext cx="2606040" cy="105156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22" name="Shape 20"/>
          <p:cNvSpPr/>
          <p:nvPr/>
        </p:nvSpPr>
        <p:spPr>
          <a:xfrm>
            <a:off x="3154680" y="278892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23" name="Text 21"/>
          <p:cNvSpPr/>
          <p:nvPr/>
        </p:nvSpPr>
        <p:spPr>
          <a:xfrm>
            <a:off x="3319272" y="2898648"/>
            <a:ext cx="2331720" cy="502920"/>
          </a:xfrm>
          <a:prstGeom prst="rect">
            <a:avLst/>
          </a:prstGeom>
          <a:noFill/>
          <a:ln/>
        </p:spPr>
        <p:txBody>
          <a:bodyPr wrap="square" lIns="0" tIns="0" rIns="0" bIns="0" rtlCol="0" anchor="ctr"/>
          <a:lstStyle/>
          <a:p>
            <a:pPr marL="0" indent="0">
              <a:buNone/>
            </a:pPr>
            <a:r>
              <a:rPr lang="en-US" sz="2600" b="1" dirty="0">
                <a:solidFill>
                  <a:srgbClr val="1D4E6B"/>
                </a:solidFill>
              </a:rPr>
              <a:t>~36 yrs</a:t>
            </a:r>
            <a:endParaRPr lang="en-US" sz="2600" dirty="0"/>
          </a:p>
        </p:txBody>
      </p:sp>
      <p:sp>
        <p:nvSpPr>
          <p:cNvPr id="24" name="Text 22"/>
          <p:cNvSpPr/>
          <p:nvPr/>
        </p:nvSpPr>
        <p:spPr>
          <a:xfrm>
            <a:off x="3319272" y="3383280"/>
            <a:ext cx="2331720" cy="320040"/>
          </a:xfrm>
          <a:prstGeom prst="rect">
            <a:avLst/>
          </a:prstGeom>
          <a:noFill/>
          <a:ln/>
        </p:spPr>
        <p:txBody>
          <a:bodyPr wrap="square" lIns="0" tIns="0" rIns="0" bIns="0" rtlCol="0" anchor="ctr"/>
          <a:lstStyle/>
          <a:p>
            <a:pPr marL="0" indent="0">
              <a:buNone/>
            </a:pPr>
            <a:r>
              <a:rPr lang="en-US" sz="1000" dirty="0">
                <a:solidFill>
                  <a:srgbClr val="666666"/>
                </a:solidFill>
              </a:rPr>
              <a:t>Avg Employee Age</a:t>
            </a:r>
            <a:endParaRPr lang="en-US" sz="1000" dirty="0"/>
          </a:p>
        </p:txBody>
      </p:sp>
      <p:sp>
        <p:nvSpPr>
          <p:cNvPr id="25" name="Shape 23"/>
          <p:cNvSpPr/>
          <p:nvPr/>
        </p:nvSpPr>
        <p:spPr>
          <a:xfrm>
            <a:off x="5989320" y="2788920"/>
            <a:ext cx="2606040" cy="1051560"/>
          </a:xfrm>
          <a:prstGeom prst="rect">
            <a:avLst/>
          </a:prstGeom>
          <a:solidFill>
            <a:schemeClr val="accent6">
              <a:lumMod val="40000"/>
              <a:lumOff val="60000"/>
            </a:schemeClr>
          </a:solidFill>
          <a:ln w="12700">
            <a:solidFill>
              <a:srgbClr val="E8EEF2"/>
            </a:solidFill>
            <a:prstDash val="solid"/>
          </a:ln>
          <a:effectLst>
            <a:outerShdw blurRad="101600" dist="25400" dir="8100000" algn="bl" rotWithShape="0">
              <a:srgbClr val="000000">
                <a:alpha val="12000"/>
              </a:srgbClr>
            </a:outerShdw>
          </a:effectLst>
        </p:spPr>
      </p:sp>
      <p:sp>
        <p:nvSpPr>
          <p:cNvPr id="26" name="Shape 24"/>
          <p:cNvSpPr/>
          <p:nvPr/>
        </p:nvSpPr>
        <p:spPr>
          <a:xfrm>
            <a:off x="5989320" y="2788920"/>
            <a:ext cx="73152"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27" name="Text 25"/>
          <p:cNvSpPr/>
          <p:nvPr/>
        </p:nvSpPr>
        <p:spPr>
          <a:xfrm>
            <a:off x="6153912" y="2898648"/>
            <a:ext cx="2331720" cy="502920"/>
          </a:xfrm>
          <a:prstGeom prst="rect">
            <a:avLst/>
          </a:prstGeom>
          <a:noFill/>
          <a:ln/>
        </p:spPr>
        <p:txBody>
          <a:bodyPr wrap="square" lIns="0" tIns="0" rIns="0" bIns="0" rtlCol="0" anchor="ctr"/>
          <a:lstStyle/>
          <a:p>
            <a:pPr marL="0" indent="0">
              <a:buNone/>
            </a:pPr>
            <a:r>
              <a:rPr lang="en-US" sz="2600" b="1" dirty="0">
                <a:solidFill>
                  <a:srgbClr val="2E86AB"/>
                </a:solidFill>
              </a:rPr>
              <a:t>~4.5 yrs</a:t>
            </a:r>
            <a:endParaRPr lang="en-US" sz="2600" dirty="0"/>
          </a:p>
        </p:txBody>
      </p:sp>
      <p:sp>
        <p:nvSpPr>
          <p:cNvPr id="28" name="Text 26"/>
          <p:cNvSpPr/>
          <p:nvPr/>
        </p:nvSpPr>
        <p:spPr>
          <a:xfrm>
            <a:off x="6153912" y="3383280"/>
            <a:ext cx="2331720" cy="320040"/>
          </a:xfrm>
          <a:prstGeom prst="rect">
            <a:avLst/>
          </a:prstGeom>
          <a:noFill/>
          <a:ln/>
        </p:spPr>
        <p:txBody>
          <a:bodyPr wrap="square" lIns="0" tIns="0" rIns="0" bIns="0" rtlCol="0" anchor="ctr"/>
          <a:lstStyle/>
          <a:p>
            <a:pPr marL="0" indent="0">
              <a:buNone/>
            </a:pPr>
            <a:r>
              <a:rPr lang="en-US" sz="1000" dirty="0">
                <a:solidFill>
                  <a:srgbClr val="666666"/>
                </a:solidFill>
              </a:rPr>
              <a:t>Avg Tenure</a:t>
            </a:r>
            <a:endParaRPr lang="en-US" sz="1000" dirty="0"/>
          </a:p>
        </p:txBody>
      </p:sp>
      <p:sp>
        <p:nvSpPr>
          <p:cNvPr id="29" name="Shape 27"/>
          <p:cNvSpPr/>
          <p:nvPr/>
        </p:nvSpPr>
        <p:spPr>
          <a:xfrm>
            <a:off x="320040" y="3977640"/>
            <a:ext cx="8503920" cy="822960"/>
          </a:xfrm>
          <a:prstGeom prst="rect">
            <a:avLst/>
          </a:prstGeom>
          <a:solidFill>
            <a:schemeClr val="accent6">
              <a:lumMod val="40000"/>
              <a:lumOff val="60000"/>
            </a:schemeClr>
          </a:solidFill>
          <a:ln w="12700">
            <a:solidFill>
              <a:srgbClr val="122F3F"/>
            </a:solidFill>
            <a:prstDash val="solid"/>
          </a:ln>
        </p:spPr>
      </p:sp>
      <p:sp>
        <p:nvSpPr>
          <p:cNvPr id="30" name="Text 28"/>
          <p:cNvSpPr/>
          <p:nvPr/>
        </p:nvSpPr>
        <p:spPr>
          <a:xfrm>
            <a:off x="457200" y="3977640"/>
            <a:ext cx="2011680" cy="822960"/>
          </a:xfrm>
          <a:prstGeom prst="rect">
            <a:avLst/>
          </a:prstGeom>
          <a:noFill/>
          <a:ln/>
        </p:spPr>
        <p:txBody>
          <a:bodyPr wrap="square" lIns="0" tIns="0" rIns="0" bIns="0" rtlCol="0" anchor="ctr"/>
          <a:lstStyle/>
          <a:p>
            <a:pPr marL="0" indent="0">
              <a:buNone/>
            </a:pPr>
            <a:r>
              <a:rPr lang="en-US" sz="1050" dirty="0"/>
              <a:t>Largest dept: Finance (218 employees)</a:t>
            </a:r>
          </a:p>
        </p:txBody>
      </p:sp>
      <p:sp>
        <p:nvSpPr>
          <p:cNvPr id="31" name="Text 29"/>
          <p:cNvSpPr/>
          <p:nvPr/>
        </p:nvSpPr>
        <p:spPr>
          <a:xfrm>
            <a:off x="2606040" y="3977640"/>
            <a:ext cx="2011680" cy="822960"/>
          </a:xfrm>
          <a:prstGeom prst="rect">
            <a:avLst/>
          </a:prstGeom>
          <a:noFill/>
          <a:ln/>
        </p:spPr>
        <p:txBody>
          <a:bodyPr wrap="square" lIns="0" tIns="0" rIns="0" bIns="0" rtlCol="0" anchor="ctr"/>
          <a:lstStyle/>
          <a:p>
            <a:pPr marL="0" indent="0">
              <a:buNone/>
            </a:pPr>
            <a:r>
              <a:rPr lang="en-US" sz="1050" dirty="0"/>
              <a:t>Gender: Predominantly male workforce</a:t>
            </a:r>
          </a:p>
        </p:txBody>
      </p:sp>
      <p:sp>
        <p:nvSpPr>
          <p:cNvPr id="32" name="Text 30"/>
          <p:cNvSpPr/>
          <p:nvPr/>
        </p:nvSpPr>
        <p:spPr>
          <a:xfrm>
            <a:off x="4754880" y="3977640"/>
            <a:ext cx="2011680" cy="822960"/>
          </a:xfrm>
          <a:prstGeom prst="rect">
            <a:avLst/>
          </a:prstGeom>
          <a:noFill/>
          <a:ln/>
        </p:spPr>
        <p:txBody>
          <a:bodyPr wrap="square" lIns="0" tIns="0" rIns="0" bIns="0" rtlCol="0" anchor="ctr"/>
          <a:lstStyle/>
          <a:p>
            <a:pPr marL="0" indent="0">
              <a:buNone/>
            </a:pPr>
            <a:r>
              <a:rPr lang="en-US" sz="1050" dirty="0"/>
              <a:t>Most common role: Analyst</a:t>
            </a:r>
          </a:p>
        </p:txBody>
      </p:sp>
      <p:sp>
        <p:nvSpPr>
          <p:cNvPr id="33" name="Text 31"/>
          <p:cNvSpPr/>
          <p:nvPr/>
        </p:nvSpPr>
        <p:spPr>
          <a:xfrm>
            <a:off x="6903720" y="3977640"/>
            <a:ext cx="2011680" cy="822960"/>
          </a:xfrm>
          <a:prstGeom prst="rect">
            <a:avLst/>
          </a:prstGeom>
          <a:noFill/>
          <a:ln/>
        </p:spPr>
        <p:txBody>
          <a:bodyPr wrap="square" lIns="0" tIns="0" rIns="0" bIns="0" rtlCol="0" anchor="ctr"/>
          <a:lstStyle/>
          <a:p>
            <a:pPr marL="0" indent="0">
              <a:buNone/>
            </a:pPr>
            <a:r>
              <a:rPr lang="en-US" sz="1050" dirty="0"/>
              <a:t>Peak hiring: 2020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solidFill>
              <a:srgbClr val="1D4E6B"/>
            </a:solid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1100" b="1" kern="0" spc="300" dirty="0">
                <a:solidFill>
                  <a:schemeClr val="bg1"/>
                </a:solidFill>
              </a:rPr>
              <a:t>SATISFACTION ANALYSIS</a:t>
            </a:r>
            <a:endParaRPr lang="en-US" sz="1100" dirty="0">
              <a:solidFill>
                <a:schemeClr val="bg1"/>
              </a:solidFill>
            </a:endParaRPr>
          </a:p>
        </p:txBody>
      </p:sp>
      <p:sp>
        <p:nvSpPr>
          <p:cNvPr id="4" name="Text 2"/>
          <p:cNvSpPr/>
          <p:nvPr/>
        </p:nvSpPr>
        <p:spPr>
          <a:xfrm>
            <a:off x="365760" y="914400"/>
            <a:ext cx="8229600" cy="457200"/>
          </a:xfrm>
          <a:prstGeom prst="rect">
            <a:avLst/>
          </a:prstGeom>
          <a:noFill/>
          <a:ln/>
        </p:spPr>
        <p:txBody>
          <a:bodyPr wrap="square" lIns="0" tIns="0" rIns="0" bIns="0" rtlCol="0" anchor="ctr"/>
          <a:lstStyle/>
          <a:p>
            <a:pPr marL="0" indent="0">
              <a:buNone/>
            </a:pPr>
            <a:r>
              <a:rPr lang="en-US" sz="2200" b="1" dirty="0">
                <a:solidFill>
                  <a:schemeClr val="bg1"/>
                </a:solidFill>
              </a:rPr>
              <a:t>Satisfaction Is Critically Low — And It Predicts Who Leaves</a:t>
            </a:r>
            <a:endParaRPr lang="en-US" sz="2200" dirty="0">
              <a:solidFill>
                <a:schemeClr val="bg1"/>
              </a:solidFill>
            </a:endParaRPr>
          </a:p>
        </p:txBody>
      </p:sp>
      <p:sp>
        <p:nvSpPr>
          <p:cNvPr id="5" name="Shape 3"/>
          <p:cNvSpPr/>
          <p:nvPr/>
        </p:nvSpPr>
        <p:spPr>
          <a:xfrm>
            <a:off x="320040" y="1463040"/>
            <a:ext cx="8503920" cy="502920"/>
          </a:xfrm>
          <a:prstGeom prst="rect">
            <a:avLst/>
          </a:prstGeom>
          <a:blipFill>
            <a:blip r:embed="rId3"/>
            <a:stretch>
              <a:fillRect/>
            </a:stretch>
          </a:blipFill>
          <a:ln w="12700">
            <a:solidFill>
              <a:schemeClr val="accent6">
                <a:lumMod val="50000"/>
              </a:schemeClr>
            </a:solidFill>
            <a:prstDash val="solid"/>
          </a:ln>
        </p:spPr>
      </p:sp>
      <p:sp>
        <p:nvSpPr>
          <p:cNvPr id="6" name="Text 4"/>
          <p:cNvSpPr/>
          <p:nvPr/>
        </p:nvSpPr>
        <p:spPr>
          <a:xfrm>
            <a:off x="457200" y="1463040"/>
            <a:ext cx="8229600" cy="502920"/>
          </a:xfrm>
          <a:prstGeom prst="rect">
            <a:avLst/>
          </a:prstGeom>
          <a:noFill/>
          <a:ln/>
        </p:spPr>
        <p:txBody>
          <a:bodyPr wrap="square" lIns="0" tIns="0" rIns="0" bIns="0" rtlCol="0" anchor="ctr"/>
          <a:lstStyle/>
          <a:p>
            <a:pPr marL="0" indent="0">
              <a:buNone/>
            </a:pPr>
            <a:r>
              <a:rPr lang="en-US" sz="1300" b="1" dirty="0">
                <a:solidFill>
                  <a:srgbClr val="FFFFFF"/>
                </a:solidFill>
              </a:rPr>
              <a:t>43% of employees score 1 or 2 out of 5 — firmly in the dissatisfaction danger zone</a:t>
            </a:r>
            <a:endParaRPr lang="en-US" sz="1300" dirty="0"/>
          </a:p>
        </p:txBody>
      </p:sp>
      <p:sp>
        <p:nvSpPr>
          <p:cNvPr id="8" name="Shape 5"/>
          <p:cNvSpPr/>
          <p:nvPr/>
        </p:nvSpPr>
        <p:spPr>
          <a:xfrm>
            <a:off x="5577840" y="2057400"/>
            <a:ext cx="3246120" cy="1188720"/>
          </a:xfrm>
          <a:prstGeom prst="rect">
            <a:avLst/>
          </a:prstGeom>
          <a:solidFill>
            <a:srgbClr val="FFFFFF"/>
          </a:solidFill>
          <a:ln w="12700">
            <a:solidFill>
              <a:srgbClr val="E8EEF2"/>
            </a:solidFill>
            <a:prstDash val="solid"/>
          </a:ln>
          <a:effectLst>
            <a:outerShdw blurRad="101600" dist="25400" dir="8100000" algn="bl" rotWithShape="0">
              <a:srgbClr val="000000">
                <a:alpha val="12000"/>
              </a:srgbClr>
            </a:outerShdw>
          </a:effectLst>
        </p:spPr>
      </p:sp>
      <p:sp>
        <p:nvSpPr>
          <p:cNvPr id="9" name="Shape 6"/>
          <p:cNvSpPr/>
          <p:nvPr/>
        </p:nvSpPr>
        <p:spPr>
          <a:xfrm>
            <a:off x="5577840" y="2057400"/>
            <a:ext cx="3246120" cy="320040"/>
          </a:xfrm>
          <a:prstGeom prst="rect">
            <a:avLst/>
          </a:prstGeom>
          <a:solidFill>
            <a:schemeClr val="accent6">
              <a:lumMod val="75000"/>
            </a:schemeClr>
          </a:solidFill>
          <a:ln w="12700">
            <a:noFill/>
            <a:prstDash val="solid"/>
          </a:ln>
        </p:spPr>
      </p:sp>
      <p:sp>
        <p:nvSpPr>
          <p:cNvPr id="10" name="Text 7"/>
          <p:cNvSpPr/>
          <p:nvPr/>
        </p:nvSpPr>
        <p:spPr>
          <a:xfrm>
            <a:off x="5669280" y="2057400"/>
            <a:ext cx="3063240" cy="320040"/>
          </a:xfrm>
          <a:prstGeom prst="rect">
            <a:avLst/>
          </a:prstGeom>
          <a:noFill/>
          <a:ln/>
        </p:spPr>
        <p:txBody>
          <a:bodyPr wrap="square" lIns="0" tIns="0" rIns="0" bIns="0" rtlCol="0" anchor="ctr"/>
          <a:lstStyle/>
          <a:p>
            <a:pPr marL="0" indent="0">
              <a:buNone/>
            </a:pPr>
            <a:r>
              <a:rPr lang="en-US" sz="850" b="1" dirty="0">
                <a:solidFill>
                  <a:srgbClr val="FFFFFF"/>
                </a:solidFill>
              </a:rPr>
              <a:t>AVG SATISFACTION BY DEPARTMENT</a:t>
            </a:r>
            <a:endParaRPr lang="en-US" sz="850" dirty="0"/>
          </a:p>
        </p:txBody>
      </p:sp>
      <p:sp>
        <p:nvSpPr>
          <p:cNvPr id="11" name="Text 8"/>
          <p:cNvSpPr/>
          <p:nvPr/>
        </p:nvSpPr>
        <p:spPr>
          <a:xfrm>
            <a:off x="5669280" y="2432304"/>
            <a:ext cx="1828800" cy="155448"/>
          </a:xfrm>
          <a:prstGeom prst="rect">
            <a:avLst/>
          </a:prstGeom>
          <a:noFill/>
          <a:ln/>
        </p:spPr>
        <p:txBody>
          <a:bodyPr wrap="square" lIns="0" tIns="0" rIns="0" bIns="0" rtlCol="0" anchor="ctr"/>
          <a:lstStyle/>
          <a:p>
            <a:pPr marL="0" indent="0">
              <a:buNone/>
            </a:pPr>
            <a:r>
              <a:rPr lang="en-US" sz="1000" b="1" dirty="0"/>
              <a:t>Finance</a:t>
            </a:r>
            <a:endParaRPr lang="en-US" sz="1000" dirty="0"/>
          </a:p>
        </p:txBody>
      </p:sp>
      <p:sp>
        <p:nvSpPr>
          <p:cNvPr id="12" name="Text 9"/>
          <p:cNvSpPr/>
          <p:nvPr/>
        </p:nvSpPr>
        <p:spPr>
          <a:xfrm>
            <a:off x="7498080" y="2432304"/>
            <a:ext cx="1188720" cy="155448"/>
          </a:xfrm>
          <a:prstGeom prst="rect">
            <a:avLst/>
          </a:prstGeom>
          <a:noFill/>
          <a:ln/>
        </p:spPr>
        <p:txBody>
          <a:bodyPr wrap="square" lIns="0" tIns="0" rIns="0" bIns="0" rtlCol="0" anchor="ctr"/>
          <a:lstStyle/>
          <a:p>
            <a:pPr marL="0" indent="0" algn="r">
              <a:buNone/>
            </a:pPr>
            <a:r>
              <a:rPr lang="en-US" sz="1000" b="1" dirty="0"/>
              <a:t>2.72</a:t>
            </a:r>
            <a:r>
              <a:rPr lang="en-US" sz="1000" b="1" dirty="0">
                <a:solidFill>
                  <a:srgbClr val="E84855"/>
                </a:solidFill>
              </a:rPr>
              <a:t> </a:t>
            </a:r>
            <a:endParaRPr lang="en-US" sz="1000" dirty="0"/>
          </a:p>
        </p:txBody>
      </p:sp>
      <p:sp>
        <p:nvSpPr>
          <p:cNvPr id="13" name="Text 10"/>
          <p:cNvSpPr/>
          <p:nvPr/>
        </p:nvSpPr>
        <p:spPr>
          <a:xfrm>
            <a:off x="5669280" y="2592324"/>
            <a:ext cx="1828800" cy="155448"/>
          </a:xfrm>
          <a:prstGeom prst="rect">
            <a:avLst/>
          </a:prstGeom>
          <a:noFill/>
          <a:ln/>
        </p:spPr>
        <p:txBody>
          <a:bodyPr wrap="square" lIns="0" tIns="0" rIns="0" bIns="0" rtlCol="0" anchor="ctr"/>
          <a:lstStyle/>
          <a:p>
            <a:pPr marL="0" indent="0">
              <a:buNone/>
            </a:pPr>
            <a:r>
              <a:rPr lang="en-US" sz="1000" dirty="0">
                <a:solidFill>
                  <a:srgbClr val="2D2D2D"/>
                </a:solidFill>
              </a:rPr>
              <a:t>IT</a:t>
            </a:r>
            <a:endParaRPr lang="en-US" sz="1000" dirty="0"/>
          </a:p>
        </p:txBody>
      </p:sp>
      <p:sp>
        <p:nvSpPr>
          <p:cNvPr id="14" name="Text 11"/>
          <p:cNvSpPr/>
          <p:nvPr/>
        </p:nvSpPr>
        <p:spPr>
          <a:xfrm>
            <a:off x="7498080" y="2592324"/>
            <a:ext cx="1188720" cy="155448"/>
          </a:xfrm>
          <a:prstGeom prst="rect">
            <a:avLst/>
          </a:prstGeom>
          <a:noFill/>
          <a:ln/>
        </p:spPr>
        <p:txBody>
          <a:bodyPr wrap="square" lIns="0" tIns="0" rIns="0" bIns="0" rtlCol="0" anchor="ctr"/>
          <a:lstStyle/>
          <a:p>
            <a:pPr marL="0" indent="0" algn="r">
              <a:buNone/>
            </a:pPr>
            <a:r>
              <a:rPr lang="en-US" sz="1000" dirty="0">
                <a:solidFill>
                  <a:srgbClr val="2D2D2D"/>
                </a:solidFill>
              </a:rPr>
              <a:t>2.91</a:t>
            </a:r>
            <a:endParaRPr lang="en-US" sz="1000" dirty="0"/>
          </a:p>
        </p:txBody>
      </p:sp>
      <p:sp>
        <p:nvSpPr>
          <p:cNvPr id="15" name="Text 12"/>
          <p:cNvSpPr/>
          <p:nvPr/>
        </p:nvSpPr>
        <p:spPr>
          <a:xfrm>
            <a:off x="5669280" y="2752344"/>
            <a:ext cx="1828800" cy="155448"/>
          </a:xfrm>
          <a:prstGeom prst="rect">
            <a:avLst/>
          </a:prstGeom>
          <a:noFill/>
          <a:ln/>
        </p:spPr>
        <p:txBody>
          <a:bodyPr wrap="square" lIns="0" tIns="0" rIns="0" bIns="0" rtlCol="0" anchor="ctr"/>
          <a:lstStyle/>
          <a:p>
            <a:pPr marL="0" indent="0">
              <a:buNone/>
            </a:pPr>
            <a:r>
              <a:rPr lang="en-US" sz="1000" dirty="0">
                <a:solidFill>
                  <a:srgbClr val="2D2D2D"/>
                </a:solidFill>
              </a:rPr>
              <a:t>HR</a:t>
            </a:r>
            <a:endParaRPr lang="en-US" sz="1000" dirty="0"/>
          </a:p>
        </p:txBody>
      </p:sp>
      <p:sp>
        <p:nvSpPr>
          <p:cNvPr id="16" name="Text 13"/>
          <p:cNvSpPr/>
          <p:nvPr/>
        </p:nvSpPr>
        <p:spPr>
          <a:xfrm>
            <a:off x="7498080" y="2752344"/>
            <a:ext cx="1188720" cy="155448"/>
          </a:xfrm>
          <a:prstGeom prst="rect">
            <a:avLst/>
          </a:prstGeom>
          <a:noFill/>
          <a:ln/>
        </p:spPr>
        <p:txBody>
          <a:bodyPr wrap="square" lIns="0" tIns="0" rIns="0" bIns="0" rtlCol="0" anchor="ctr"/>
          <a:lstStyle/>
          <a:p>
            <a:pPr marL="0" indent="0" algn="r">
              <a:buNone/>
            </a:pPr>
            <a:r>
              <a:rPr lang="en-US" sz="1000" dirty="0">
                <a:solidFill>
                  <a:srgbClr val="2D2D2D"/>
                </a:solidFill>
              </a:rPr>
              <a:t>2.99</a:t>
            </a:r>
            <a:endParaRPr lang="en-US" sz="1000" dirty="0"/>
          </a:p>
        </p:txBody>
      </p:sp>
      <p:sp>
        <p:nvSpPr>
          <p:cNvPr id="17" name="Text 14"/>
          <p:cNvSpPr/>
          <p:nvPr/>
        </p:nvSpPr>
        <p:spPr>
          <a:xfrm>
            <a:off x="5669280" y="2912364"/>
            <a:ext cx="1828800" cy="155448"/>
          </a:xfrm>
          <a:prstGeom prst="rect">
            <a:avLst/>
          </a:prstGeom>
          <a:noFill/>
          <a:ln/>
        </p:spPr>
        <p:txBody>
          <a:bodyPr wrap="square" lIns="0" tIns="0" rIns="0" bIns="0" rtlCol="0" anchor="ctr"/>
          <a:lstStyle/>
          <a:p>
            <a:pPr marL="0" indent="0">
              <a:buNone/>
            </a:pPr>
            <a:r>
              <a:rPr lang="en-US" sz="1000" dirty="0">
                <a:solidFill>
                  <a:srgbClr val="2D2D2D"/>
                </a:solidFill>
              </a:rPr>
              <a:t>Sales</a:t>
            </a:r>
            <a:endParaRPr lang="en-US" sz="1000" dirty="0"/>
          </a:p>
        </p:txBody>
      </p:sp>
      <p:sp>
        <p:nvSpPr>
          <p:cNvPr id="18" name="Text 15"/>
          <p:cNvSpPr/>
          <p:nvPr/>
        </p:nvSpPr>
        <p:spPr>
          <a:xfrm>
            <a:off x="7498080" y="2912364"/>
            <a:ext cx="1188720" cy="155448"/>
          </a:xfrm>
          <a:prstGeom prst="rect">
            <a:avLst/>
          </a:prstGeom>
          <a:noFill/>
          <a:ln/>
        </p:spPr>
        <p:txBody>
          <a:bodyPr wrap="square" lIns="0" tIns="0" rIns="0" bIns="0" rtlCol="0" anchor="ctr"/>
          <a:lstStyle/>
          <a:p>
            <a:pPr marL="0" indent="0" algn="r">
              <a:buNone/>
            </a:pPr>
            <a:r>
              <a:rPr lang="en-US" sz="1000" dirty="0">
                <a:solidFill>
                  <a:srgbClr val="2D2D2D"/>
                </a:solidFill>
              </a:rPr>
              <a:t>2.98</a:t>
            </a:r>
            <a:endParaRPr lang="en-US" sz="1000" dirty="0"/>
          </a:p>
        </p:txBody>
      </p:sp>
      <p:sp>
        <p:nvSpPr>
          <p:cNvPr id="19" name="Text 16"/>
          <p:cNvSpPr/>
          <p:nvPr/>
        </p:nvSpPr>
        <p:spPr>
          <a:xfrm>
            <a:off x="5669280" y="3072384"/>
            <a:ext cx="1828800" cy="155448"/>
          </a:xfrm>
          <a:prstGeom prst="rect">
            <a:avLst/>
          </a:prstGeom>
          <a:noFill/>
          <a:ln/>
        </p:spPr>
        <p:txBody>
          <a:bodyPr wrap="square" lIns="0" tIns="0" rIns="0" bIns="0" rtlCol="0" anchor="ctr"/>
          <a:lstStyle/>
          <a:p>
            <a:pPr marL="0" indent="0">
              <a:buNone/>
            </a:pPr>
            <a:r>
              <a:rPr lang="en-US" sz="1000" dirty="0">
                <a:solidFill>
                  <a:srgbClr val="2D2D2D"/>
                </a:solidFill>
              </a:rPr>
              <a:t>Marketing</a:t>
            </a:r>
            <a:endParaRPr lang="en-US" sz="1000" dirty="0"/>
          </a:p>
        </p:txBody>
      </p:sp>
      <p:sp>
        <p:nvSpPr>
          <p:cNvPr id="20" name="Text 17"/>
          <p:cNvSpPr/>
          <p:nvPr/>
        </p:nvSpPr>
        <p:spPr>
          <a:xfrm>
            <a:off x="7498080" y="3072384"/>
            <a:ext cx="1188720" cy="155448"/>
          </a:xfrm>
          <a:prstGeom prst="rect">
            <a:avLst/>
          </a:prstGeom>
          <a:noFill/>
          <a:ln/>
        </p:spPr>
        <p:txBody>
          <a:bodyPr wrap="square" lIns="0" tIns="0" rIns="0" bIns="0" rtlCol="0" anchor="ctr"/>
          <a:lstStyle/>
          <a:p>
            <a:pPr marL="0" indent="0" algn="r">
              <a:buNone/>
            </a:pPr>
            <a:r>
              <a:rPr lang="en-US" sz="1000" dirty="0">
                <a:solidFill>
                  <a:srgbClr val="2D2D2D"/>
                </a:solidFill>
              </a:rPr>
              <a:t>3.01</a:t>
            </a:r>
            <a:endParaRPr lang="en-US" sz="1000" dirty="0"/>
          </a:p>
        </p:txBody>
      </p:sp>
      <p:sp>
        <p:nvSpPr>
          <p:cNvPr id="21" name="Shape 18"/>
          <p:cNvSpPr/>
          <p:nvPr/>
        </p:nvSpPr>
        <p:spPr>
          <a:xfrm>
            <a:off x="5577840" y="3337560"/>
            <a:ext cx="3246120" cy="1280160"/>
          </a:xfrm>
          <a:prstGeom prst="rect">
            <a:avLst/>
          </a:prstGeom>
          <a:solidFill>
            <a:srgbClr val="FFFFFF"/>
          </a:solidFill>
          <a:ln w="12700">
            <a:solidFill>
              <a:srgbClr val="E8EEF2"/>
            </a:solidFill>
            <a:prstDash val="solid"/>
          </a:ln>
          <a:effectLst>
            <a:outerShdw blurRad="101600" dist="25400" dir="8100000" algn="bl" rotWithShape="0">
              <a:srgbClr val="000000">
                <a:alpha val="12000"/>
              </a:srgbClr>
            </a:outerShdw>
          </a:effectLst>
        </p:spPr>
      </p:sp>
      <p:sp>
        <p:nvSpPr>
          <p:cNvPr id="22" name="Shape 19"/>
          <p:cNvSpPr/>
          <p:nvPr/>
        </p:nvSpPr>
        <p:spPr>
          <a:xfrm>
            <a:off x="5577840" y="3337560"/>
            <a:ext cx="3246120" cy="320040"/>
          </a:xfrm>
          <a:prstGeom prst="rect">
            <a:avLst/>
          </a:prstGeom>
          <a:solidFill>
            <a:schemeClr val="accent6">
              <a:lumMod val="75000"/>
            </a:schemeClr>
          </a:solidFill>
          <a:ln w="12700">
            <a:solidFill>
              <a:schemeClr val="accent6">
                <a:lumMod val="75000"/>
              </a:schemeClr>
            </a:solidFill>
            <a:prstDash val="solid"/>
          </a:ln>
        </p:spPr>
      </p:sp>
      <p:sp>
        <p:nvSpPr>
          <p:cNvPr id="23" name="Text 20"/>
          <p:cNvSpPr/>
          <p:nvPr/>
        </p:nvSpPr>
        <p:spPr>
          <a:xfrm>
            <a:off x="5669280" y="3337560"/>
            <a:ext cx="3063240" cy="320040"/>
          </a:xfrm>
          <a:prstGeom prst="rect">
            <a:avLst/>
          </a:prstGeom>
          <a:noFill/>
          <a:ln/>
        </p:spPr>
        <p:txBody>
          <a:bodyPr wrap="square" lIns="0" tIns="0" rIns="0" bIns="0" rtlCol="0" anchor="ctr"/>
          <a:lstStyle/>
          <a:p>
            <a:pPr marL="0" indent="0">
              <a:buNone/>
            </a:pPr>
            <a:r>
              <a:rPr lang="en-US" sz="850" b="1" dirty="0">
                <a:solidFill>
                  <a:srgbClr val="FFFFFF"/>
                </a:solidFill>
              </a:rPr>
              <a:t>AVG SATISFACTION BY POSITION</a:t>
            </a:r>
            <a:endParaRPr lang="en-US" sz="850" dirty="0"/>
          </a:p>
        </p:txBody>
      </p:sp>
      <p:sp>
        <p:nvSpPr>
          <p:cNvPr id="24" name="Text 21"/>
          <p:cNvSpPr/>
          <p:nvPr/>
        </p:nvSpPr>
        <p:spPr>
          <a:xfrm>
            <a:off x="5669280" y="3712464"/>
            <a:ext cx="1828800" cy="164592"/>
          </a:xfrm>
          <a:prstGeom prst="rect">
            <a:avLst/>
          </a:prstGeom>
          <a:noFill/>
          <a:ln/>
        </p:spPr>
        <p:txBody>
          <a:bodyPr wrap="square" lIns="0" tIns="0" rIns="0" bIns="0" rtlCol="0" anchor="ctr"/>
          <a:lstStyle/>
          <a:p>
            <a:pPr marL="0" indent="0">
              <a:buNone/>
            </a:pPr>
            <a:r>
              <a:rPr lang="en-US" sz="1000" b="1" dirty="0"/>
              <a:t>Analyst</a:t>
            </a:r>
            <a:endParaRPr lang="en-US" sz="1000" dirty="0"/>
          </a:p>
        </p:txBody>
      </p:sp>
      <p:sp>
        <p:nvSpPr>
          <p:cNvPr id="25" name="Text 22"/>
          <p:cNvSpPr/>
          <p:nvPr/>
        </p:nvSpPr>
        <p:spPr>
          <a:xfrm>
            <a:off x="7498080" y="3712464"/>
            <a:ext cx="1188720" cy="164592"/>
          </a:xfrm>
          <a:prstGeom prst="rect">
            <a:avLst/>
          </a:prstGeom>
          <a:noFill/>
          <a:ln/>
        </p:spPr>
        <p:txBody>
          <a:bodyPr wrap="square" lIns="0" tIns="0" rIns="0" bIns="0" rtlCol="0" anchor="ctr"/>
          <a:lstStyle/>
          <a:p>
            <a:pPr marL="0" indent="0" algn="r">
              <a:buNone/>
            </a:pPr>
            <a:r>
              <a:rPr lang="en-US" sz="1000" b="1" dirty="0"/>
              <a:t>2.70 </a:t>
            </a:r>
            <a:endParaRPr lang="en-US" sz="1000" dirty="0"/>
          </a:p>
        </p:txBody>
      </p:sp>
      <p:sp>
        <p:nvSpPr>
          <p:cNvPr id="26" name="Text 23"/>
          <p:cNvSpPr/>
          <p:nvPr/>
        </p:nvSpPr>
        <p:spPr>
          <a:xfrm>
            <a:off x="5669280" y="3886200"/>
            <a:ext cx="1828800" cy="164592"/>
          </a:xfrm>
          <a:prstGeom prst="rect">
            <a:avLst/>
          </a:prstGeom>
          <a:noFill/>
          <a:ln/>
        </p:spPr>
        <p:txBody>
          <a:bodyPr wrap="square" lIns="0" tIns="0" rIns="0" bIns="0" rtlCol="0" anchor="ctr"/>
          <a:lstStyle/>
          <a:p>
            <a:pPr marL="0" indent="0">
              <a:buNone/>
            </a:pPr>
            <a:r>
              <a:rPr lang="en-US" sz="1000" dirty="0">
                <a:solidFill>
                  <a:srgbClr val="2D2D2D"/>
                </a:solidFill>
              </a:rPr>
              <a:t>Assistant</a:t>
            </a:r>
            <a:endParaRPr lang="en-US" sz="1000" dirty="0"/>
          </a:p>
        </p:txBody>
      </p:sp>
      <p:sp>
        <p:nvSpPr>
          <p:cNvPr id="27" name="Text 24"/>
          <p:cNvSpPr/>
          <p:nvPr/>
        </p:nvSpPr>
        <p:spPr>
          <a:xfrm>
            <a:off x="7498080" y="3886200"/>
            <a:ext cx="1188720" cy="164592"/>
          </a:xfrm>
          <a:prstGeom prst="rect">
            <a:avLst/>
          </a:prstGeom>
          <a:noFill/>
          <a:ln/>
        </p:spPr>
        <p:txBody>
          <a:bodyPr wrap="square" lIns="0" tIns="0" rIns="0" bIns="0" rtlCol="0" anchor="ctr"/>
          <a:lstStyle/>
          <a:p>
            <a:pPr marL="0" indent="0" algn="r">
              <a:buNone/>
            </a:pPr>
            <a:r>
              <a:rPr lang="en-US" sz="1000" dirty="0">
                <a:solidFill>
                  <a:srgbClr val="2D2D2D"/>
                </a:solidFill>
              </a:rPr>
              <a:t>2.87  </a:t>
            </a:r>
            <a:endParaRPr lang="en-US" sz="1000" dirty="0"/>
          </a:p>
        </p:txBody>
      </p:sp>
      <p:sp>
        <p:nvSpPr>
          <p:cNvPr id="28" name="Text 25"/>
          <p:cNvSpPr/>
          <p:nvPr/>
        </p:nvSpPr>
        <p:spPr>
          <a:xfrm>
            <a:off x="5669280" y="4059936"/>
            <a:ext cx="1828800" cy="164592"/>
          </a:xfrm>
          <a:prstGeom prst="rect">
            <a:avLst/>
          </a:prstGeom>
          <a:noFill/>
          <a:ln/>
        </p:spPr>
        <p:txBody>
          <a:bodyPr wrap="square" lIns="0" tIns="0" rIns="0" bIns="0" rtlCol="0" anchor="ctr"/>
          <a:lstStyle/>
          <a:p>
            <a:pPr marL="0" indent="0">
              <a:buNone/>
            </a:pPr>
            <a:r>
              <a:rPr lang="en-US" sz="1000" dirty="0">
                <a:solidFill>
                  <a:srgbClr val="2D2D2D"/>
                </a:solidFill>
              </a:rPr>
              <a:t>Director</a:t>
            </a:r>
            <a:endParaRPr lang="en-US" sz="1000" dirty="0"/>
          </a:p>
        </p:txBody>
      </p:sp>
      <p:sp>
        <p:nvSpPr>
          <p:cNvPr id="29" name="Text 26"/>
          <p:cNvSpPr/>
          <p:nvPr/>
        </p:nvSpPr>
        <p:spPr>
          <a:xfrm>
            <a:off x="7498080" y="4059936"/>
            <a:ext cx="1188720" cy="164592"/>
          </a:xfrm>
          <a:prstGeom prst="rect">
            <a:avLst/>
          </a:prstGeom>
          <a:noFill/>
          <a:ln/>
        </p:spPr>
        <p:txBody>
          <a:bodyPr wrap="square" lIns="0" tIns="0" rIns="0" bIns="0" rtlCol="0" anchor="ctr"/>
          <a:lstStyle/>
          <a:p>
            <a:pPr marL="0" indent="0" algn="r">
              <a:buNone/>
            </a:pPr>
            <a:r>
              <a:rPr lang="en-US" sz="1000" dirty="0">
                <a:solidFill>
                  <a:srgbClr val="2D2D2D"/>
                </a:solidFill>
              </a:rPr>
              <a:t>2.92  </a:t>
            </a:r>
            <a:endParaRPr lang="en-US" sz="1000" dirty="0"/>
          </a:p>
        </p:txBody>
      </p:sp>
      <p:sp>
        <p:nvSpPr>
          <p:cNvPr id="30" name="Text 27"/>
          <p:cNvSpPr/>
          <p:nvPr/>
        </p:nvSpPr>
        <p:spPr>
          <a:xfrm>
            <a:off x="5669280" y="4233672"/>
            <a:ext cx="1828800" cy="164592"/>
          </a:xfrm>
          <a:prstGeom prst="rect">
            <a:avLst/>
          </a:prstGeom>
          <a:noFill/>
          <a:ln/>
        </p:spPr>
        <p:txBody>
          <a:bodyPr wrap="square" lIns="0" tIns="0" rIns="0" bIns="0" rtlCol="0" anchor="ctr"/>
          <a:lstStyle/>
          <a:p>
            <a:pPr marL="0" indent="0">
              <a:buNone/>
            </a:pPr>
            <a:r>
              <a:rPr lang="en-US" sz="1000" dirty="0">
                <a:solidFill>
                  <a:srgbClr val="2D2D2D"/>
                </a:solidFill>
              </a:rPr>
              <a:t>Clerk</a:t>
            </a:r>
            <a:endParaRPr lang="en-US" sz="1000" dirty="0"/>
          </a:p>
        </p:txBody>
      </p:sp>
      <p:sp>
        <p:nvSpPr>
          <p:cNvPr id="31" name="Text 28"/>
          <p:cNvSpPr/>
          <p:nvPr/>
        </p:nvSpPr>
        <p:spPr>
          <a:xfrm>
            <a:off x="7498080" y="4233672"/>
            <a:ext cx="1188720" cy="164592"/>
          </a:xfrm>
          <a:prstGeom prst="rect">
            <a:avLst/>
          </a:prstGeom>
          <a:noFill/>
          <a:ln/>
        </p:spPr>
        <p:txBody>
          <a:bodyPr wrap="square" lIns="0" tIns="0" rIns="0" bIns="0" rtlCol="0" anchor="ctr"/>
          <a:lstStyle/>
          <a:p>
            <a:pPr marL="0" indent="0" algn="r">
              <a:buNone/>
            </a:pPr>
            <a:r>
              <a:rPr lang="en-US" sz="1000" dirty="0">
                <a:solidFill>
                  <a:srgbClr val="2D2D2D"/>
                </a:solidFill>
              </a:rPr>
              <a:t>2.98  </a:t>
            </a:r>
            <a:endParaRPr lang="en-US" sz="1000" dirty="0"/>
          </a:p>
        </p:txBody>
      </p:sp>
      <p:sp>
        <p:nvSpPr>
          <p:cNvPr id="32" name="Text 29"/>
          <p:cNvSpPr/>
          <p:nvPr/>
        </p:nvSpPr>
        <p:spPr>
          <a:xfrm>
            <a:off x="5669280" y="4407408"/>
            <a:ext cx="1828800" cy="164592"/>
          </a:xfrm>
          <a:prstGeom prst="rect">
            <a:avLst/>
          </a:prstGeom>
          <a:noFill/>
          <a:ln/>
        </p:spPr>
        <p:txBody>
          <a:bodyPr wrap="square" lIns="0" tIns="0" rIns="0" bIns="0" rtlCol="0" anchor="ctr"/>
          <a:lstStyle/>
          <a:p>
            <a:pPr marL="0" indent="0">
              <a:buNone/>
            </a:pPr>
            <a:r>
              <a:rPr lang="en-US" sz="1000" dirty="0">
                <a:solidFill>
                  <a:srgbClr val="2D2D2D"/>
                </a:solidFill>
              </a:rPr>
              <a:t>Manager</a:t>
            </a:r>
            <a:endParaRPr lang="en-US" sz="1000" dirty="0"/>
          </a:p>
        </p:txBody>
      </p:sp>
      <p:sp>
        <p:nvSpPr>
          <p:cNvPr id="33" name="Text 30"/>
          <p:cNvSpPr/>
          <p:nvPr/>
        </p:nvSpPr>
        <p:spPr>
          <a:xfrm>
            <a:off x="7498080" y="4407408"/>
            <a:ext cx="1188720" cy="164592"/>
          </a:xfrm>
          <a:prstGeom prst="rect">
            <a:avLst/>
          </a:prstGeom>
          <a:noFill/>
          <a:ln/>
        </p:spPr>
        <p:txBody>
          <a:bodyPr wrap="square" lIns="0" tIns="0" rIns="0" bIns="0" rtlCol="0" anchor="ctr"/>
          <a:lstStyle/>
          <a:p>
            <a:pPr marL="0" indent="0" algn="r">
              <a:buNone/>
            </a:pPr>
            <a:r>
              <a:rPr lang="en-US" sz="1000" b="1" dirty="0"/>
              <a:t>3.13  </a:t>
            </a:r>
            <a:endParaRPr lang="en-US" sz="1000" dirty="0"/>
          </a:p>
        </p:txBody>
      </p:sp>
      <p:sp>
        <p:nvSpPr>
          <p:cNvPr id="34" name="Shape 31"/>
          <p:cNvSpPr/>
          <p:nvPr/>
        </p:nvSpPr>
        <p:spPr>
          <a:xfrm>
            <a:off x="320040" y="4663440"/>
            <a:ext cx="8503920" cy="347472"/>
          </a:xfrm>
          <a:prstGeom prst="rect">
            <a:avLst/>
          </a:prstGeom>
          <a:solidFill>
            <a:schemeClr val="accent6">
              <a:lumMod val="75000"/>
            </a:schemeClr>
          </a:solidFill>
          <a:ln w="12700">
            <a:noFill/>
            <a:prstDash val="solid"/>
          </a:ln>
        </p:spPr>
      </p:sp>
      <p:sp>
        <p:nvSpPr>
          <p:cNvPr id="35" name="Text 32"/>
          <p:cNvSpPr/>
          <p:nvPr/>
        </p:nvSpPr>
        <p:spPr>
          <a:xfrm>
            <a:off x="457200" y="4663440"/>
            <a:ext cx="8229600" cy="347472"/>
          </a:xfrm>
          <a:prstGeom prst="rect">
            <a:avLst/>
          </a:prstGeom>
          <a:noFill/>
          <a:ln>
            <a:noFill/>
          </a:ln>
        </p:spPr>
        <p:txBody>
          <a:bodyPr wrap="square" lIns="0" tIns="0" rIns="0" bIns="0" rtlCol="0" anchor="ctr"/>
          <a:lstStyle/>
          <a:p>
            <a:pPr marL="0" indent="0">
              <a:buNone/>
            </a:pPr>
            <a:r>
              <a:rPr lang="en-US" sz="1050" i="1" dirty="0">
                <a:solidFill>
                  <a:schemeClr val="bg1"/>
                </a:solidFill>
              </a:rPr>
              <a:t>  The gap between Analysts (2.70) and Managers (3.13) reveals a career pipeline problem ; junior staff are your most dissatisfied group</a:t>
            </a:r>
            <a:endParaRPr lang="en-US" sz="1050" dirty="0">
              <a:solidFill>
                <a:schemeClr val="bg1"/>
              </a:solidFill>
            </a:endParaRPr>
          </a:p>
        </p:txBody>
      </p:sp>
      <p:graphicFrame>
        <p:nvGraphicFramePr>
          <p:cNvPr id="36" name="Chart 35">
            <a:extLst>
              <a:ext uri="{FF2B5EF4-FFF2-40B4-BE49-F238E27FC236}">
                <a16:creationId xmlns:a16="http://schemas.microsoft.com/office/drawing/2014/main" id="{C13A22C2-22FB-4529-BFE7-42B21703B2FE}"/>
              </a:ext>
            </a:extLst>
          </p:cNvPr>
          <p:cNvGraphicFramePr>
            <a:graphicFrameLocks/>
          </p:cNvGraphicFramePr>
          <p:nvPr>
            <p:extLst>
              <p:ext uri="{D42A27DB-BD31-4B8C-83A1-F6EECF244321}">
                <p14:modId xmlns:p14="http://schemas.microsoft.com/office/powerpoint/2010/main" val="3421454396"/>
              </p:ext>
            </p:extLst>
          </p:nvPr>
        </p:nvGraphicFramePr>
        <p:xfrm>
          <a:off x="216131" y="1965960"/>
          <a:ext cx="471678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no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1100" b="1" kern="0" spc="300" dirty="0">
                <a:solidFill>
                  <a:srgbClr val="A8DADC"/>
                </a:solidFill>
              </a:rPr>
              <a:t>ATTRITION ANALYSIS</a:t>
            </a:r>
            <a:endParaRPr lang="en-US" sz="1100" dirty="0"/>
          </a:p>
        </p:txBody>
      </p:sp>
      <p:sp>
        <p:nvSpPr>
          <p:cNvPr id="4" name="Text 2"/>
          <p:cNvSpPr/>
          <p:nvPr/>
        </p:nvSpPr>
        <p:spPr>
          <a:xfrm>
            <a:off x="365760" y="914400"/>
            <a:ext cx="8229600" cy="457200"/>
          </a:xfrm>
          <a:prstGeom prst="rect">
            <a:avLst/>
          </a:prstGeom>
          <a:noFill/>
          <a:ln/>
        </p:spPr>
        <p:txBody>
          <a:bodyPr wrap="square" lIns="0" tIns="0" rIns="0" bIns="0" rtlCol="0" anchor="ctr"/>
          <a:lstStyle/>
          <a:p>
            <a:pPr marL="0" indent="0">
              <a:buNone/>
            </a:pPr>
            <a:r>
              <a:rPr lang="en-US" sz="2200" b="1" dirty="0">
                <a:solidFill>
                  <a:schemeClr val="bg1"/>
                </a:solidFill>
              </a:rPr>
              <a:t>Attrition Is Company-Wide, But the Drivers Are Specific</a:t>
            </a:r>
            <a:endParaRPr lang="en-US" sz="2200" dirty="0">
              <a:solidFill>
                <a:schemeClr val="bg1"/>
              </a:solidFill>
            </a:endParaRPr>
          </a:p>
        </p:txBody>
      </p:sp>
      <p:sp>
        <p:nvSpPr>
          <p:cNvPr id="5" name="Shape 3"/>
          <p:cNvSpPr/>
          <p:nvPr/>
        </p:nvSpPr>
        <p:spPr>
          <a:xfrm>
            <a:off x="320040" y="1508760"/>
            <a:ext cx="2697480" cy="1005840"/>
          </a:xfrm>
          <a:prstGeom prst="rect">
            <a:avLst/>
          </a:prstGeom>
          <a:solidFill>
            <a:schemeClr val="accent6">
              <a:lumMod val="40000"/>
              <a:lumOff val="60000"/>
            </a:schemeClr>
          </a:solidFill>
          <a:ln w="12700">
            <a:noFill/>
            <a:prstDash val="solid"/>
          </a:ln>
          <a:effectLst>
            <a:outerShdw blurRad="101600" dist="25400" dir="8100000" algn="bl" rotWithShape="0">
              <a:srgbClr val="000000">
                <a:alpha val="12000"/>
              </a:srgbClr>
            </a:outerShdw>
          </a:effectLst>
        </p:spPr>
      </p:sp>
      <p:sp>
        <p:nvSpPr>
          <p:cNvPr id="6" name="Shape 4"/>
          <p:cNvSpPr/>
          <p:nvPr/>
        </p:nvSpPr>
        <p:spPr>
          <a:xfrm>
            <a:off x="320040" y="1508760"/>
            <a:ext cx="64008" cy="100584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7" name="Text 5"/>
          <p:cNvSpPr/>
          <p:nvPr/>
        </p:nvSpPr>
        <p:spPr>
          <a:xfrm>
            <a:off x="475488" y="1536192"/>
            <a:ext cx="2423160" cy="502920"/>
          </a:xfrm>
          <a:prstGeom prst="rect">
            <a:avLst/>
          </a:prstGeom>
          <a:noFill/>
          <a:ln/>
        </p:spPr>
        <p:txBody>
          <a:bodyPr wrap="square" lIns="0" tIns="0" rIns="0" bIns="0" rtlCol="0" anchor="ctr"/>
          <a:lstStyle/>
          <a:p>
            <a:pPr marL="0" indent="0">
              <a:buNone/>
            </a:pPr>
            <a:r>
              <a:rPr lang="en-US" sz="2600" b="1" dirty="0">
                <a:solidFill>
                  <a:srgbClr val="E84855"/>
                </a:solidFill>
              </a:rPr>
              <a:t>42.78%</a:t>
            </a:r>
            <a:endParaRPr lang="en-US" sz="2600" dirty="0"/>
          </a:p>
        </p:txBody>
      </p:sp>
      <p:sp>
        <p:nvSpPr>
          <p:cNvPr id="8" name="Text 6"/>
          <p:cNvSpPr/>
          <p:nvPr/>
        </p:nvSpPr>
        <p:spPr>
          <a:xfrm>
            <a:off x="475488" y="2011680"/>
            <a:ext cx="2423160" cy="411480"/>
          </a:xfrm>
          <a:prstGeom prst="rect">
            <a:avLst/>
          </a:prstGeom>
          <a:noFill/>
          <a:ln/>
        </p:spPr>
        <p:txBody>
          <a:bodyPr wrap="square" lIns="0" tIns="0" rIns="0" bIns="0" rtlCol="0" anchor="ctr"/>
          <a:lstStyle/>
          <a:p>
            <a:pPr marL="0" indent="0">
              <a:buNone/>
            </a:pPr>
            <a:r>
              <a:rPr lang="en-US" sz="1000" dirty="0">
                <a:solidFill>
                  <a:srgbClr val="666666"/>
                </a:solidFill>
              </a:rPr>
              <a:t>Marketing has the highest</a:t>
            </a:r>
            <a:endParaRPr lang="en-US" sz="1000" dirty="0"/>
          </a:p>
          <a:p>
            <a:pPr marL="0" indent="0">
              <a:buNone/>
            </a:pPr>
            <a:r>
              <a:rPr lang="en-US" sz="1000" dirty="0">
                <a:solidFill>
                  <a:srgbClr val="666666"/>
                </a:solidFill>
              </a:rPr>
              <a:t>attrition rate</a:t>
            </a:r>
            <a:endParaRPr lang="en-US" sz="1000" dirty="0"/>
          </a:p>
        </p:txBody>
      </p:sp>
      <p:sp>
        <p:nvSpPr>
          <p:cNvPr id="9" name="Shape 7"/>
          <p:cNvSpPr/>
          <p:nvPr/>
        </p:nvSpPr>
        <p:spPr>
          <a:xfrm>
            <a:off x="3200400" y="1508760"/>
            <a:ext cx="2697480" cy="1005840"/>
          </a:xfrm>
          <a:prstGeom prst="rect">
            <a:avLst/>
          </a:prstGeom>
          <a:solidFill>
            <a:schemeClr val="accent6">
              <a:lumMod val="40000"/>
              <a:lumOff val="60000"/>
            </a:schemeClr>
          </a:solidFill>
          <a:ln w="12700">
            <a:noFill/>
            <a:prstDash val="solid"/>
          </a:ln>
          <a:effectLst>
            <a:outerShdw blurRad="101600" dist="25400" dir="8100000" algn="bl" rotWithShape="0">
              <a:srgbClr val="000000">
                <a:alpha val="12000"/>
              </a:srgbClr>
            </a:outerShdw>
          </a:effectLst>
        </p:spPr>
      </p:sp>
      <p:sp>
        <p:nvSpPr>
          <p:cNvPr id="10" name="Shape 8"/>
          <p:cNvSpPr/>
          <p:nvPr/>
        </p:nvSpPr>
        <p:spPr>
          <a:xfrm>
            <a:off x="3200400" y="1508760"/>
            <a:ext cx="64008" cy="100584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1" name="Text 9"/>
          <p:cNvSpPr/>
          <p:nvPr/>
        </p:nvSpPr>
        <p:spPr>
          <a:xfrm>
            <a:off x="3355848" y="1536192"/>
            <a:ext cx="2423160" cy="502920"/>
          </a:xfrm>
          <a:prstGeom prst="rect">
            <a:avLst/>
          </a:prstGeom>
          <a:noFill/>
          <a:ln/>
        </p:spPr>
        <p:txBody>
          <a:bodyPr wrap="square" lIns="0" tIns="0" rIns="0" bIns="0" rtlCol="0" anchor="ctr"/>
          <a:lstStyle/>
          <a:p>
            <a:pPr marL="0" indent="0">
              <a:buNone/>
            </a:pPr>
            <a:r>
              <a:rPr lang="en-US" sz="2600" b="1" dirty="0">
                <a:solidFill>
                  <a:srgbClr val="E84855"/>
                </a:solidFill>
              </a:rPr>
              <a:t>47.30%</a:t>
            </a:r>
            <a:endParaRPr lang="en-US" sz="2600" dirty="0"/>
          </a:p>
        </p:txBody>
      </p:sp>
      <p:sp>
        <p:nvSpPr>
          <p:cNvPr id="12" name="Text 10"/>
          <p:cNvSpPr/>
          <p:nvPr/>
        </p:nvSpPr>
        <p:spPr>
          <a:xfrm>
            <a:off x="3355848" y="2011680"/>
            <a:ext cx="2423160" cy="411480"/>
          </a:xfrm>
          <a:prstGeom prst="rect">
            <a:avLst/>
          </a:prstGeom>
          <a:noFill/>
          <a:ln/>
        </p:spPr>
        <p:txBody>
          <a:bodyPr wrap="square" lIns="0" tIns="0" rIns="0" bIns="0" rtlCol="0" anchor="ctr"/>
          <a:lstStyle/>
          <a:p>
            <a:pPr marL="0" indent="0">
              <a:buNone/>
            </a:pPr>
            <a:r>
              <a:rPr lang="en-US" sz="1000" dirty="0">
                <a:solidFill>
                  <a:srgbClr val="666666"/>
                </a:solidFill>
              </a:rPr>
              <a:t>Attrition for employees</a:t>
            </a:r>
            <a:endParaRPr lang="en-US" sz="1000" dirty="0"/>
          </a:p>
          <a:p>
            <a:pPr marL="0" indent="0">
              <a:buNone/>
            </a:pPr>
            <a:r>
              <a:rPr lang="en-US" sz="1000" dirty="0">
                <a:solidFill>
                  <a:srgbClr val="666666"/>
                </a:solidFill>
              </a:rPr>
              <a:t>promoted in Jan 2023</a:t>
            </a:r>
            <a:endParaRPr lang="en-US" sz="1000" dirty="0"/>
          </a:p>
        </p:txBody>
      </p:sp>
      <p:sp>
        <p:nvSpPr>
          <p:cNvPr id="13" name="Shape 11"/>
          <p:cNvSpPr/>
          <p:nvPr/>
        </p:nvSpPr>
        <p:spPr>
          <a:xfrm>
            <a:off x="6080760" y="1508760"/>
            <a:ext cx="2697480" cy="1005840"/>
          </a:xfrm>
          <a:prstGeom prst="rect">
            <a:avLst/>
          </a:prstGeom>
          <a:solidFill>
            <a:schemeClr val="accent6">
              <a:lumMod val="40000"/>
              <a:lumOff val="60000"/>
            </a:schemeClr>
          </a:solidFill>
          <a:ln w="12700">
            <a:noFill/>
            <a:prstDash val="solid"/>
          </a:ln>
          <a:effectLst>
            <a:outerShdw blurRad="101600" dist="25400" dir="8100000" algn="bl" rotWithShape="0">
              <a:srgbClr val="000000">
                <a:alpha val="12000"/>
              </a:srgbClr>
            </a:outerShdw>
          </a:effectLst>
        </p:spPr>
      </p:sp>
      <p:sp>
        <p:nvSpPr>
          <p:cNvPr id="14" name="Shape 12"/>
          <p:cNvSpPr/>
          <p:nvPr/>
        </p:nvSpPr>
        <p:spPr>
          <a:xfrm>
            <a:off x="6080760" y="1508760"/>
            <a:ext cx="64008" cy="100584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5" name="Text 13"/>
          <p:cNvSpPr/>
          <p:nvPr/>
        </p:nvSpPr>
        <p:spPr>
          <a:xfrm>
            <a:off x="6236208" y="1536192"/>
            <a:ext cx="2423160" cy="502920"/>
          </a:xfrm>
          <a:prstGeom prst="rect">
            <a:avLst/>
          </a:prstGeom>
          <a:noFill/>
          <a:ln/>
        </p:spPr>
        <p:txBody>
          <a:bodyPr wrap="square" lIns="0" tIns="0" rIns="0" bIns="0" rtlCol="0" anchor="ctr"/>
          <a:lstStyle/>
          <a:p>
            <a:pPr marL="0" indent="0">
              <a:buNone/>
            </a:pPr>
            <a:r>
              <a:rPr lang="en-US" sz="2600" b="1" dirty="0"/>
              <a:t>28.40%</a:t>
            </a:r>
            <a:endParaRPr lang="en-US" sz="2600" dirty="0"/>
          </a:p>
        </p:txBody>
      </p:sp>
      <p:sp>
        <p:nvSpPr>
          <p:cNvPr id="16" name="Text 14"/>
          <p:cNvSpPr/>
          <p:nvPr/>
        </p:nvSpPr>
        <p:spPr>
          <a:xfrm>
            <a:off x="6236208" y="2011680"/>
            <a:ext cx="2423160" cy="411480"/>
          </a:xfrm>
          <a:prstGeom prst="rect">
            <a:avLst/>
          </a:prstGeom>
          <a:noFill/>
          <a:ln/>
        </p:spPr>
        <p:txBody>
          <a:bodyPr wrap="square" lIns="0" tIns="0" rIns="0" bIns="0" rtlCol="0" anchor="ctr"/>
          <a:lstStyle/>
          <a:p>
            <a:pPr marL="0" indent="0">
              <a:buNone/>
            </a:pPr>
            <a:r>
              <a:rPr lang="en-US" sz="1000" dirty="0">
                <a:solidFill>
                  <a:srgbClr val="666666"/>
                </a:solidFill>
              </a:rPr>
              <a:t>Attrition for employees</a:t>
            </a:r>
            <a:endParaRPr lang="en-US" sz="1000" dirty="0"/>
          </a:p>
          <a:p>
            <a:pPr marL="0" indent="0">
              <a:buNone/>
            </a:pPr>
            <a:r>
              <a:rPr lang="en-US" sz="1000" dirty="0">
                <a:solidFill>
                  <a:srgbClr val="666666"/>
                </a:solidFill>
              </a:rPr>
              <a:t>promoted in Aug 2024</a:t>
            </a:r>
            <a:endParaRPr lang="en-US" sz="1000" dirty="0"/>
          </a:p>
        </p:txBody>
      </p:sp>
      <p:sp>
        <p:nvSpPr>
          <p:cNvPr id="17" name="Shape 15"/>
          <p:cNvSpPr/>
          <p:nvPr/>
        </p:nvSpPr>
        <p:spPr>
          <a:xfrm>
            <a:off x="320040" y="2651760"/>
            <a:ext cx="8503920" cy="347472"/>
          </a:xfrm>
          <a:prstGeom prst="rect">
            <a:avLst/>
          </a:prstGeom>
          <a:solidFill>
            <a:schemeClr val="accent6">
              <a:lumMod val="40000"/>
              <a:lumOff val="60000"/>
            </a:schemeClr>
          </a:solidFill>
          <a:ln w="12700">
            <a:noFill/>
            <a:prstDash val="solid"/>
          </a:ln>
        </p:spPr>
      </p:sp>
      <p:sp>
        <p:nvSpPr>
          <p:cNvPr id="18" name="Text 16"/>
          <p:cNvSpPr/>
          <p:nvPr/>
        </p:nvSpPr>
        <p:spPr>
          <a:xfrm>
            <a:off x="457200" y="2651760"/>
            <a:ext cx="8229600" cy="347472"/>
          </a:xfrm>
          <a:prstGeom prst="rect">
            <a:avLst/>
          </a:prstGeom>
          <a:noFill/>
          <a:ln/>
        </p:spPr>
        <p:txBody>
          <a:bodyPr wrap="square" lIns="0" tIns="0" rIns="0" bIns="0" rtlCol="0" anchor="ctr"/>
          <a:lstStyle/>
          <a:p>
            <a:pPr marL="0" indent="0">
              <a:buNone/>
            </a:pPr>
            <a:r>
              <a:rPr lang="en-US" sz="1000" b="1" kern="0" spc="200" dirty="0">
                <a:solidFill>
                  <a:srgbClr val="FFFFFF"/>
                </a:solidFill>
              </a:rPr>
              <a:t>WHAT THE DATA RULES OUT AS DRIVERS OF ATTRITION</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254211379"/>
              </p:ext>
            </p:extLst>
          </p:nvPr>
        </p:nvGraphicFramePr>
        <p:xfrm>
          <a:off x="320040" y="2999232"/>
          <a:ext cx="8503920" cy="1417320"/>
        </p:xfrm>
        <a:graphic>
          <a:graphicData uri="http://schemas.openxmlformats.org/drawingml/2006/table">
            <a:tbl>
              <a:tblPr/>
              <a:tblGrid>
                <a:gridCol w="16459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83464">
                <a:tc>
                  <a:txBody>
                    <a:bodyPr/>
                    <a:lstStyle/>
                    <a:p>
                      <a:pPr marL="0" indent="0">
                        <a:buNone/>
                      </a:pPr>
                      <a:r>
                        <a:rPr lang="en-US" sz="1100" b="1" dirty="0">
                          <a:solidFill>
                            <a:srgbClr val="FFFFFF"/>
                          </a:solidFill>
                        </a:rPr>
                        <a:t>Factor</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chemeClr val="accent6">
                        <a:lumMod val="40000"/>
                        <a:lumOff val="60000"/>
                      </a:schemeClr>
                    </a:solidFill>
                  </a:tcPr>
                </a:tc>
                <a:tc>
                  <a:txBody>
                    <a:bodyPr/>
                    <a:lstStyle/>
                    <a:p>
                      <a:pPr marL="0" indent="0">
                        <a:buNone/>
                      </a:pPr>
                      <a:r>
                        <a:rPr lang="en-US" sz="1100" b="1" dirty="0">
                          <a:solidFill>
                            <a:srgbClr val="FFFFFF"/>
                          </a:solidFill>
                        </a:rPr>
                        <a:t>Finding</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chemeClr val="accent6">
                        <a:lumMod val="40000"/>
                        <a:lumOff val="60000"/>
                      </a:schemeClr>
                    </a:solidFill>
                  </a:tcPr>
                </a:tc>
                <a:tc>
                  <a:txBody>
                    <a:bodyPr/>
                    <a:lstStyle/>
                    <a:p>
                      <a:pPr marL="0" indent="0">
                        <a:buNone/>
                      </a:pPr>
                      <a:r>
                        <a:rPr lang="en-US" sz="1100" b="1" dirty="0">
                          <a:solidFill>
                            <a:srgbClr val="FFFFFF"/>
                          </a:solidFill>
                        </a:rPr>
                        <a:t>Verdict</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83464">
                <a:tc>
                  <a:txBody>
                    <a:bodyPr/>
                    <a:lstStyle/>
                    <a:p>
                      <a:pPr marL="0" indent="0">
                        <a:buNone/>
                      </a:pPr>
                      <a:r>
                        <a:rPr lang="en-US" sz="1100" dirty="0">
                          <a:solidFill>
                            <a:srgbClr val="2D2D2D"/>
                          </a:solidFill>
                        </a:rPr>
                        <a:t>Salary</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$50K-$70K evenly distributed across all groups</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  Not a driver</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buNone/>
                      </a:pPr>
                      <a:r>
                        <a:rPr lang="en-US" sz="1100" dirty="0">
                          <a:solidFill>
                            <a:srgbClr val="2D2D2D"/>
                          </a:solidFill>
                        </a:rPr>
                        <a:t>Gender</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Female 40.6%,  Male 37.8%,  Other 39.5%</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  Not a driver</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1100" dirty="0">
                          <a:solidFill>
                            <a:srgbClr val="2D2D2D"/>
                          </a:solidFill>
                        </a:rPr>
                        <a:t>Employment Type</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Contract 40%,  Full-Time 40.2%,  Part-Time 36.9%</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  Minimal difference</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1100" dirty="0">
                          <a:solidFill>
                            <a:srgbClr val="2D2D2D"/>
                          </a:solidFill>
                        </a:rPr>
                        <a:t>Benefits Enrolled</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Enrolled: 40.8%  vs  Not enrolled: 38%</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tc>
                  <a:txBody>
                    <a:bodyPr/>
                    <a:lstStyle/>
                    <a:p>
                      <a:pPr marL="0" indent="0">
                        <a:buNone/>
                      </a:pPr>
                      <a:r>
                        <a:rPr lang="en-US" sz="1100" dirty="0">
                          <a:solidFill>
                            <a:srgbClr val="2D2D2D"/>
                          </a:solidFill>
                        </a:rPr>
                        <a:t>❌  No protective effect</a:t>
                      </a:r>
                      <a:endParaRPr lang="en-US" sz="1100" dirty="0"/>
                    </a:p>
                  </a:txBody>
                  <a:tcPr>
                    <a:lnL w="6350" cap="flat" cmpd="sng" algn="ctr">
                      <a:solidFill>
                        <a:srgbClr val="E8EEF2"/>
                      </a:solidFill>
                      <a:prstDash val="solid"/>
                      <a:round/>
                      <a:headEnd type="none" w="med" len="med"/>
                      <a:tailEnd type="none" w="med" len="med"/>
                    </a:lnL>
                    <a:lnR w="6350" cap="flat" cmpd="sng" algn="ctr">
                      <a:solidFill>
                        <a:srgbClr val="E8EEF2"/>
                      </a:solidFill>
                      <a:prstDash val="solid"/>
                      <a:round/>
                      <a:headEnd type="none" w="med" len="med"/>
                      <a:tailEnd type="none" w="med" len="med"/>
                    </a:lnR>
                    <a:lnT w="6350" cap="flat" cmpd="sng" algn="ctr">
                      <a:solidFill>
                        <a:srgbClr val="E8EEF2"/>
                      </a:solidFill>
                      <a:prstDash val="solid"/>
                      <a:round/>
                      <a:headEnd type="none" w="med" len="med"/>
                      <a:tailEnd type="none" w="med" len="med"/>
                    </a:lnT>
                    <a:lnB w="6350" cap="flat" cmpd="sng" algn="ctr">
                      <a:solidFill>
                        <a:srgbClr val="E8EE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0" name="Shape 17"/>
          <p:cNvSpPr/>
          <p:nvPr/>
        </p:nvSpPr>
        <p:spPr>
          <a:xfrm>
            <a:off x="320040" y="4480560"/>
            <a:ext cx="8503920" cy="530352"/>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21" name="Text 18"/>
          <p:cNvSpPr/>
          <p:nvPr/>
        </p:nvSpPr>
        <p:spPr>
          <a:xfrm>
            <a:off x="457200" y="4480560"/>
            <a:ext cx="8229600" cy="530352"/>
          </a:xfrm>
          <a:prstGeom prst="rect">
            <a:avLst/>
          </a:prstGeom>
          <a:solidFill>
            <a:schemeClr val="accent6">
              <a:lumMod val="40000"/>
              <a:lumOff val="60000"/>
            </a:schemeClr>
          </a:solidFill>
          <a:ln/>
        </p:spPr>
        <p:txBody>
          <a:bodyPr wrap="square" lIns="0" tIns="0" rIns="0" bIns="0" rtlCol="0" anchor="ctr"/>
          <a:lstStyle/>
          <a:p>
            <a:pPr marL="0" indent="0">
              <a:buNone/>
            </a:pPr>
            <a:r>
              <a:rPr lang="en-US" sz="1200" b="1" dirty="0"/>
              <a:t>The only variables that strongly predict attrition are job satisfaction score and recency of last promotion; everything else is noise.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no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1100" b="1" kern="0" spc="300" dirty="0">
                <a:solidFill>
                  <a:schemeClr val="bg1"/>
                </a:solidFill>
              </a:rPr>
              <a:t>KEY FINDINGS</a:t>
            </a:r>
            <a:endParaRPr lang="en-US" sz="1100" dirty="0">
              <a:solidFill>
                <a:schemeClr val="bg1"/>
              </a:solidFill>
            </a:endParaRPr>
          </a:p>
        </p:txBody>
      </p:sp>
      <p:sp>
        <p:nvSpPr>
          <p:cNvPr id="4" name="Text 2"/>
          <p:cNvSpPr/>
          <p:nvPr/>
        </p:nvSpPr>
        <p:spPr>
          <a:xfrm>
            <a:off x="365760" y="914400"/>
            <a:ext cx="8229600" cy="457200"/>
          </a:xfrm>
          <a:prstGeom prst="rect">
            <a:avLst/>
          </a:prstGeom>
          <a:noFill/>
          <a:ln/>
        </p:spPr>
        <p:txBody>
          <a:bodyPr wrap="square" lIns="0" tIns="0" rIns="0" bIns="0" rtlCol="0" anchor="ctr"/>
          <a:lstStyle/>
          <a:p>
            <a:pPr marL="0" indent="0">
              <a:buNone/>
            </a:pPr>
            <a:r>
              <a:rPr lang="en-US" sz="2400" b="1" dirty="0">
                <a:solidFill>
                  <a:schemeClr val="bg1"/>
                </a:solidFill>
              </a:rPr>
              <a:t>Five Findings HR Leadership Must Act On</a:t>
            </a:r>
            <a:endParaRPr lang="en-US" sz="2400" dirty="0">
              <a:solidFill>
                <a:schemeClr val="bg1"/>
              </a:solidFill>
            </a:endParaRPr>
          </a:p>
        </p:txBody>
      </p:sp>
      <p:sp>
        <p:nvSpPr>
          <p:cNvPr id="5" name="Shape 3"/>
          <p:cNvSpPr/>
          <p:nvPr/>
        </p:nvSpPr>
        <p:spPr>
          <a:xfrm>
            <a:off x="320040" y="1508760"/>
            <a:ext cx="4160520" cy="105156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6" name="Shape 4"/>
          <p:cNvSpPr/>
          <p:nvPr/>
        </p:nvSpPr>
        <p:spPr>
          <a:xfrm>
            <a:off x="320040" y="1508760"/>
            <a:ext cx="411480"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7" name="Text 5"/>
          <p:cNvSpPr/>
          <p:nvPr/>
        </p:nvSpPr>
        <p:spPr>
          <a:xfrm>
            <a:off x="320040" y="1508760"/>
            <a:ext cx="411480" cy="1051560"/>
          </a:xfrm>
          <a:prstGeom prst="rect">
            <a:avLst/>
          </a:prstGeom>
          <a:noFill/>
          <a:ln/>
        </p:spPr>
        <p:txBody>
          <a:bodyPr wrap="square" lIns="0" tIns="0" rIns="0" bIns="0" rtlCol="0" anchor="ctr"/>
          <a:lstStyle/>
          <a:p>
            <a:pPr marL="0" indent="0" algn="ctr">
              <a:buNone/>
            </a:pPr>
            <a:r>
              <a:rPr lang="en-US" sz="1600" b="1" dirty="0">
                <a:solidFill>
                  <a:srgbClr val="FFFFFF"/>
                </a:solidFill>
              </a:rPr>
              <a:t>①</a:t>
            </a:r>
            <a:endParaRPr lang="en-US" sz="1600" dirty="0"/>
          </a:p>
        </p:txBody>
      </p:sp>
      <p:sp>
        <p:nvSpPr>
          <p:cNvPr id="8" name="Text 6"/>
          <p:cNvSpPr/>
          <p:nvPr/>
        </p:nvSpPr>
        <p:spPr>
          <a:xfrm>
            <a:off x="822960" y="1581912"/>
            <a:ext cx="3566160" cy="256032"/>
          </a:xfrm>
          <a:prstGeom prst="rect">
            <a:avLst/>
          </a:prstGeom>
          <a:noFill/>
          <a:ln/>
        </p:spPr>
        <p:txBody>
          <a:bodyPr wrap="square" lIns="0" tIns="0" rIns="0" bIns="0" rtlCol="0" anchor="ctr"/>
          <a:lstStyle/>
          <a:p>
            <a:pPr marL="0" indent="0">
              <a:buNone/>
            </a:pPr>
            <a:r>
              <a:rPr lang="en-US" sz="1150" b="1" dirty="0">
                <a:solidFill>
                  <a:srgbClr val="122F3F"/>
                </a:solidFill>
              </a:rPr>
              <a:t>The Satisfaction Cliff</a:t>
            </a:r>
            <a:endParaRPr lang="en-US" sz="1150" dirty="0"/>
          </a:p>
        </p:txBody>
      </p:sp>
      <p:sp>
        <p:nvSpPr>
          <p:cNvPr id="9" name="Text 7"/>
          <p:cNvSpPr/>
          <p:nvPr/>
        </p:nvSpPr>
        <p:spPr>
          <a:xfrm>
            <a:off x="822960" y="1828800"/>
            <a:ext cx="3566160" cy="704088"/>
          </a:xfrm>
          <a:prstGeom prst="rect">
            <a:avLst/>
          </a:prstGeom>
          <a:noFill/>
          <a:ln/>
        </p:spPr>
        <p:txBody>
          <a:bodyPr wrap="square" lIns="0" tIns="0" rIns="0" bIns="0" rtlCol="0" anchor="t"/>
          <a:lstStyle/>
          <a:p>
            <a:pPr marL="0" indent="0">
              <a:buNone/>
            </a:pPr>
            <a:r>
              <a:rPr lang="en-US" sz="1000" dirty="0">
                <a:solidFill>
                  <a:srgbClr val="2D2D2D"/>
                </a:solidFill>
              </a:rPr>
              <a:t>Attrition drops from 53% at score 2 to just 27% at score 3; a 26-point drop. Getting employees above the dissatisfaction threshold delivers the highest retention ROI of any intervention.</a:t>
            </a:r>
            <a:endParaRPr lang="en-US" sz="1000" dirty="0"/>
          </a:p>
        </p:txBody>
      </p:sp>
      <p:sp>
        <p:nvSpPr>
          <p:cNvPr id="10" name="Shape 8"/>
          <p:cNvSpPr/>
          <p:nvPr/>
        </p:nvSpPr>
        <p:spPr>
          <a:xfrm>
            <a:off x="4663440" y="1508760"/>
            <a:ext cx="4160520" cy="1051560"/>
          </a:xfrm>
          <a:prstGeom prst="rect">
            <a:avLst/>
          </a:prstGeom>
          <a:solidFill>
            <a:schemeClr val="accent6">
              <a:lumMod val="40000"/>
              <a:lumOff val="60000"/>
            </a:schemeClr>
          </a:solidFill>
          <a:ln w="12700">
            <a:noFill/>
            <a:prstDash val="solid"/>
          </a:ln>
          <a:effectLst>
            <a:outerShdw blurRad="101600" dist="25400" dir="8100000" algn="bl" rotWithShape="0">
              <a:srgbClr val="000000">
                <a:alpha val="12000"/>
              </a:srgbClr>
            </a:outerShdw>
          </a:effectLst>
        </p:spPr>
      </p:sp>
      <p:sp>
        <p:nvSpPr>
          <p:cNvPr id="11" name="Shape 9"/>
          <p:cNvSpPr/>
          <p:nvPr/>
        </p:nvSpPr>
        <p:spPr>
          <a:xfrm>
            <a:off x="4663440" y="1508760"/>
            <a:ext cx="411480"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2" name="Text 10"/>
          <p:cNvSpPr/>
          <p:nvPr/>
        </p:nvSpPr>
        <p:spPr>
          <a:xfrm>
            <a:off x="4663440" y="1508760"/>
            <a:ext cx="411480" cy="1051560"/>
          </a:xfrm>
          <a:prstGeom prst="rect">
            <a:avLst/>
          </a:prstGeom>
          <a:noFill/>
          <a:ln/>
        </p:spPr>
        <p:txBody>
          <a:bodyPr wrap="square" lIns="0" tIns="0" rIns="0" bIns="0" rtlCol="0" anchor="ctr"/>
          <a:lstStyle/>
          <a:p>
            <a:pPr marL="0" indent="0" algn="ctr">
              <a:buNone/>
            </a:pPr>
            <a:r>
              <a:rPr lang="en-US" sz="1600" b="1" dirty="0">
                <a:solidFill>
                  <a:srgbClr val="FFFFFF"/>
                </a:solidFill>
              </a:rPr>
              <a:t>②</a:t>
            </a:r>
            <a:endParaRPr lang="en-US" sz="1600" dirty="0"/>
          </a:p>
        </p:txBody>
      </p:sp>
      <p:sp>
        <p:nvSpPr>
          <p:cNvPr id="13" name="Text 11"/>
          <p:cNvSpPr/>
          <p:nvPr/>
        </p:nvSpPr>
        <p:spPr>
          <a:xfrm>
            <a:off x="5166360" y="1581912"/>
            <a:ext cx="3566160" cy="256032"/>
          </a:xfrm>
          <a:prstGeom prst="rect">
            <a:avLst/>
          </a:prstGeom>
          <a:noFill/>
          <a:ln/>
        </p:spPr>
        <p:txBody>
          <a:bodyPr wrap="square" lIns="0" tIns="0" rIns="0" bIns="0" rtlCol="0" anchor="ctr"/>
          <a:lstStyle/>
          <a:p>
            <a:pPr marL="0" indent="0">
              <a:buNone/>
            </a:pPr>
            <a:r>
              <a:rPr lang="en-US" sz="1150" b="1" dirty="0">
                <a:solidFill>
                  <a:srgbClr val="122F3F"/>
                </a:solidFill>
              </a:rPr>
              <a:t>Promotion Timing Is the Strongest Lever</a:t>
            </a:r>
            <a:endParaRPr lang="en-US" sz="1150" dirty="0"/>
          </a:p>
        </p:txBody>
      </p:sp>
      <p:sp>
        <p:nvSpPr>
          <p:cNvPr id="14" name="Text 12"/>
          <p:cNvSpPr/>
          <p:nvPr/>
        </p:nvSpPr>
        <p:spPr>
          <a:xfrm>
            <a:off x="5166360" y="1828800"/>
            <a:ext cx="3566160" cy="704088"/>
          </a:xfrm>
          <a:prstGeom prst="rect">
            <a:avLst/>
          </a:prstGeom>
          <a:noFill/>
          <a:ln/>
        </p:spPr>
        <p:txBody>
          <a:bodyPr wrap="square" lIns="0" tIns="0" rIns="0" bIns="0" rtlCol="0" anchor="t"/>
          <a:lstStyle/>
          <a:p>
            <a:pPr marL="0" indent="0">
              <a:buNone/>
            </a:pPr>
            <a:r>
              <a:rPr lang="en-US" sz="1000" dirty="0">
                <a:solidFill>
                  <a:srgbClr val="2D2D2D"/>
                </a:solidFill>
              </a:rPr>
              <a:t>Employees promoted in Aug 2024 leave at 28.4%. Those promoted in Jan 2023 leave at 47.3%. Recency of recognition, not salary, is what keeps people.</a:t>
            </a:r>
            <a:endParaRPr lang="en-US" sz="1000" dirty="0"/>
          </a:p>
        </p:txBody>
      </p:sp>
      <p:sp>
        <p:nvSpPr>
          <p:cNvPr id="15" name="Shape 13"/>
          <p:cNvSpPr/>
          <p:nvPr/>
        </p:nvSpPr>
        <p:spPr>
          <a:xfrm>
            <a:off x="320040" y="2834640"/>
            <a:ext cx="4160520" cy="105156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16" name="Shape 14"/>
          <p:cNvSpPr/>
          <p:nvPr/>
        </p:nvSpPr>
        <p:spPr>
          <a:xfrm>
            <a:off x="320040" y="2834640"/>
            <a:ext cx="411480"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17" name="Text 15"/>
          <p:cNvSpPr/>
          <p:nvPr/>
        </p:nvSpPr>
        <p:spPr>
          <a:xfrm>
            <a:off x="320040" y="2834640"/>
            <a:ext cx="411480" cy="1051560"/>
          </a:xfrm>
          <a:prstGeom prst="rect">
            <a:avLst/>
          </a:prstGeom>
          <a:noFill/>
          <a:ln/>
        </p:spPr>
        <p:txBody>
          <a:bodyPr wrap="square" lIns="0" tIns="0" rIns="0" bIns="0" rtlCol="0" anchor="ctr"/>
          <a:lstStyle/>
          <a:p>
            <a:pPr marL="0" indent="0" algn="ctr">
              <a:buNone/>
            </a:pPr>
            <a:r>
              <a:rPr lang="en-US" sz="1600" b="1" dirty="0">
                <a:solidFill>
                  <a:srgbClr val="FFFFFF"/>
                </a:solidFill>
              </a:rPr>
              <a:t>③</a:t>
            </a:r>
            <a:endParaRPr lang="en-US" sz="1600" dirty="0"/>
          </a:p>
        </p:txBody>
      </p:sp>
      <p:sp>
        <p:nvSpPr>
          <p:cNvPr id="18" name="Text 16"/>
          <p:cNvSpPr/>
          <p:nvPr/>
        </p:nvSpPr>
        <p:spPr>
          <a:xfrm>
            <a:off x="822960" y="2907792"/>
            <a:ext cx="3566160" cy="256032"/>
          </a:xfrm>
          <a:prstGeom prst="rect">
            <a:avLst/>
          </a:prstGeom>
          <a:noFill/>
          <a:ln/>
        </p:spPr>
        <p:txBody>
          <a:bodyPr wrap="square" lIns="0" tIns="0" rIns="0" bIns="0" rtlCol="0" anchor="ctr"/>
          <a:lstStyle/>
          <a:p>
            <a:pPr marL="0" indent="0">
              <a:buNone/>
            </a:pPr>
            <a:r>
              <a:rPr lang="en-US" sz="1150" b="1" dirty="0">
                <a:solidFill>
                  <a:srgbClr val="122F3F"/>
                </a:solidFill>
              </a:rPr>
              <a:t>Years 3 &amp; 5 Are Critical Danger Zones</a:t>
            </a:r>
            <a:endParaRPr lang="en-US" sz="1150" dirty="0"/>
          </a:p>
        </p:txBody>
      </p:sp>
      <p:sp>
        <p:nvSpPr>
          <p:cNvPr id="19" name="Text 17"/>
          <p:cNvSpPr/>
          <p:nvPr/>
        </p:nvSpPr>
        <p:spPr>
          <a:xfrm>
            <a:off x="822960" y="3154680"/>
            <a:ext cx="3566160" cy="704088"/>
          </a:xfrm>
          <a:prstGeom prst="rect">
            <a:avLst/>
          </a:prstGeom>
          <a:noFill/>
          <a:ln/>
        </p:spPr>
        <p:txBody>
          <a:bodyPr wrap="square" lIns="0" tIns="0" rIns="0" bIns="0" rtlCol="0" anchor="t"/>
          <a:lstStyle/>
          <a:p>
            <a:pPr marL="0" indent="0">
              <a:buNone/>
            </a:pPr>
            <a:r>
              <a:rPr lang="en-US" sz="1000" dirty="0">
                <a:solidFill>
                  <a:srgbClr val="2D2D2D"/>
                </a:solidFill>
              </a:rPr>
              <a:t>Attrition spikes at years 3 (43.3%) and 5 (44.4%) of tenure. These are career milestone moments. When growth doesn't arrive, employees leave.</a:t>
            </a:r>
            <a:endParaRPr lang="en-US" sz="1000" dirty="0"/>
          </a:p>
        </p:txBody>
      </p:sp>
      <p:sp>
        <p:nvSpPr>
          <p:cNvPr id="20" name="Shape 18"/>
          <p:cNvSpPr/>
          <p:nvPr/>
        </p:nvSpPr>
        <p:spPr>
          <a:xfrm>
            <a:off x="4663440" y="2834640"/>
            <a:ext cx="4160520" cy="1051560"/>
          </a:xfrm>
          <a:prstGeom prst="rect">
            <a:avLst/>
          </a:prstGeom>
          <a:solidFill>
            <a:schemeClr val="accent6">
              <a:lumMod val="40000"/>
              <a:lumOff val="60000"/>
            </a:schemeClr>
          </a:solidFill>
          <a:ln w="12700">
            <a:noFill/>
            <a:prstDash val="solid"/>
          </a:ln>
          <a:effectLst>
            <a:outerShdw blurRad="101600" dist="25400" dir="8100000" algn="bl" rotWithShape="0">
              <a:srgbClr val="000000">
                <a:alpha val="12000"/>
              </a:srgbClr>
            </a:outerShdw>
          </a:effectLst>
        </p:spPr>
      </p:sp>
      <p:sp>
        <p:nvSpPr>
          <p:cNvPr id="21" name="Shape 19"/>
          <p:cNvSpPr/>
          <p:nvPr/>
        </p:nvSpPr>
        <p:spPr>
          <a:xfrm>
            <a:off x="4663440" y="2834640"/>
            <a:ext cx="411480" cy="105156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22" name="Text 20"/>
          <p:cNvSpPr/>
          <p:nvPr/>
        </p:nvSpPr>
        <p:spPr>
          <a:xfrm>
            <a:off x="4663440" y="2834640"/>
            <a:ext cx="411480" cy="1051560"/>
          </a:xfrm>
          <a:prstGeom prst="rect">
            <a:avLst/>
          </a:prstGeom>
          <a:noFill/>
          <a:ln/>
        </p:spPr>
        <p:txBody>
          <a:bodyPr wrap="square" lIns="0" tIns="0" rIns="0" bIns="0" rtlCol="0" anchor="ctr"/>
          <a:lstStyle/>
          <a:p>
            <a:pPr marL="0" indent="0" algn="ctr">
              <a:buNone/>
            </a:pPr>
            <a:r>
              <a:rPr lang="en-US" sz="1600" b="1" dirty="0">
                <a:solidFill>
                  <a:srgbClr val="FFFFFF"/>
                </a:solidFill>
              </a:rPr>
              <a:t>④</a:t>
            </a:r>
            <a:endParaRPr lang="en-US" sz="1600" dirty="0"/>
          </a:p>
        </p:txBody>
      </p:sp>
      <p:sp>
        <p:nvSpPr>
          <p:cNvPr id="23" name="Text 21"/>
          <p:cNvSpPr/>
          <p:nvPr/>
        </p:nvSpPr>
        <p:spPr>
          <a:xfrm>
            <a:off x="5166360" y="2907792"/>
            <a:ext cx="3566160" cy="256032"/>
          </a:xfrm>
          <a:prstGeom prst="rect">
            <a:avLst/>
          </a:prstGeom>
          <a:noFill/>
          <a:ln/>
        </p:spPr>
        <p:txBody>
          <a:bodyPr wrap="square" lIns="0" tIns="0" rIns="0" bIns="0" rtlCol="0" anchor="ctr"/>
          <a:lstStyle/>
          <a:p>
            <a:pPr marL="0" indent="0">
              <a:buNone/>
            </a:pPr>
            <a:r>
              <a:rPr lang="en-US" sz="1150" b="1" dirty="0">
                <a:solidFill>
                  <a:srgbClr val="122F3F"/>
                </a:solidFill>
              </a:rPr>
              <a:t>B Performers Are a Silent Talent Drain</a:t>
            </a:r>
            <a:endParaRPr lang="en-US" sz="1150" dirty="0"/>
          </a:p>
        </p:txBody>
      </p:sp>
      <p:sp>
        <p:nvSpPr>
          <p:cNvPr id="24" name="Text 22"/>
          <p:cNvSpPr/>
          <p:nvPr/>
        </p:nvSpPr>
        <p:spPr>
          <a:xfrm>
            <a:off x="5166360" y="3154680"/>
            <a:ext cx="3566160" cy="704088"/>
          </a:xfrm>
          <a:prstGeom prst="rect">
            <a:avLst/>
          </a:prstGeom>
          <a:noFill/>
          <a:ln/>
        </p:spPr>
        <p:txBody>
          <a:bodyPr wrap="square" lIns="0" tIns="0" rIns="0" bIns="0" rtlCol="0" anchor="t"/>
          <a:lstStyle/>
          <a:p>
            <a:pPr marL="0" indent="0">
              <a:buNone/>
            </a:pPr>
            <a:r>
              <a:rPr lang="en-US" sz="1000" dirty="0">
                <a:solidFill>
                  <a:srgbClr val="2D2D2D"/>
                </a:solidFill>
              </a:rPr>
              <a:t>Grade B employees leave at 43.1%;  highest of any grade, higher than C, D, and F performers. Solid mid-tier talent is walking out unnoticed.</a:t>
            </a:r>
            <a:endParaRPr lang="en-US" sz="1000" dirty="0"/>
          </a:p>
        </p:txBody>
      </p:sp>
      <p:sp>
        <p:nvSpPr>
          <p:cNvPr id="25" name="Shape 23"/>
          <p:cNvSpPr/>
          <p:nvPr/>
        </p:nvSpPr>
        <p:spPr>
          <a:xfrm>
            <a:off x="320040" y="4160520"/>
            <a:ext cx="8503920" cy="777240"/>
          </a:xfrm>
          <a:prstGeom prst="rect">
            <a:avLst/>
          </a:prstGeom>
          <a:solidFill>
            <a:schemeClr val="accent6">
              <a:lumMod val="40000"/>
              <a:lumOff val="60000"/>
            </a:schemeClr>
          </a:solidFill>
          <a:ln w="12700">
            <a:solidFill>
              <a:schemeClr val="accent6">
                <a:lumMod val="40000"/>
                <a:lumOff val="60000"/>
              </a:schemeClr>
            </a:solidFill>
            <a:prstDash val="solid"/>
          </a:ln>
          <a:effectLst>
            <a:outerShdw blurRad="101600" dist="25400" dir="8100000" algn="bl" rotWithShape="0">
              <a:srgbClr val="000000">
                <a:alpha val="12000"/>
              </a:srgbClr>
            </a:outerShdw>
          </a:effectLst>
        </p:spPr>
      </p:sp>
      <p:sp>
        <p:nvSpPr>
          <p:cNvPr id="26" name="Shape 24"/>
          <p:cNvSpPr/>
          <p:nvPr/>
        </p:nvSpPr>
        <p:spPr>
          <a:xfrm>
            <a:off x="320040" y="4160520"/>
            <a:ext cx="411480" cy="777240"/>
          </a:xfrm>
          <a:prstGeom prst="rect">
            <a:avLst/>
          </a:prstGeom>
          <a:solidFill>
            <a:schemeClr val="accent6">
              <a:lumMod val="40000"/>
              <a:lumOff val="60000"/>
            </a:schemeClr>
          </a:solidFill>
          <a:ln w="12700">
            <a:solidFill>
              <a:schemeClr val="accent6">
                <a:lumMod val="40000"/>
                <a:lumOff val="60000"/>
              </a:schemeClr>
            </a:solidFill>
            <a:prstDash val="solid"/>
          </a:ln>
        </p:spPr>
      </p:sp>
      <p:sp>
        <p:nvSpPr>
          <p:cNvPr id="27" name="Text 25"/>
          <p:cNvSpPr/>
          <p:nvPr/>
        </p:nvSpPr>
        <p:spPr>
          <a:xfrm>
            <a:off x="320040" y="4160520"/>
            <a:ext cx="411480" cy="777240"/>
          </a:xfrm>
          <a:prstGeom prst="rect">
            <a:avLst/>
          </a:prstGeom>
          <a:noFill/>
          <a:ln/>
        </p:spPr>
        <p:txBody>
          <a:bodyPr wrap="square" lIns="0" tIns="0" rIns="0" bIns="0" rtlCol="0" anchor="ctr"/>
          <a:lstStyle/>
          <a:p>
            <a:pPr marL="0" indent="0" algn="ctr">
              <a:buNone/>
            </a:pPr>
            <a:r>
              <a:rPr lang="en-US" sz="1600" b="1" dirty="0">
                <a:solidFill>
                  <a:srgbClr val="FFFFFF"/>
                </a:solidFill>
              </a:rPr>
              <a:t>⑤</a:t>
            </a:r>
            <a:endParaRPr lang="en-US" sz="1600" dirty="0"/>
          </a:p>
        </p:txBody>
      </p:sp>
      <p:sp>
        <p:nvSpPr>
          <p:cNvPr id="28" name="Text 26"/>
          <p:cNvSpPr/>
          <p:nvPr/>
        </p:nvSpPr>
        <p:spPr>
          <a:xfrm>
            <a:off x="822960" y="4233672"/>
            <a:ext cx="7909560" cy="256032"/>
          </a:xfrm>
          <a:prstGeom prst="rect">
            <a:avLst/>
          </a:prstGeom>
          <a:noFill/>
          <a:ln/>
        </p:spPr>
        <p:txBody>
          <a:bodyPr wrap="square" lIns="0" tIns="0" rIns="0" bIns="0" rtlCol="0" anchor="ctr"/>
          <a:lstStyle/>
          <a:p>
            <a:pPr marL="0" indent="0">
              <a:buNone/>
            </a:pPr>
            <a:r>
              <a:rPr lang="en-US" sz="1150" b="1" dirty="0">
                <a:solidFill>
                  <a:srgbClr val="122F3F"/>
                </a:solidFill>
              </a:rPr>
              <a:t>Analysts Are the Most At-Risk Position</a:t>
            </a:r>
            <a:endParaRPr lang="en-US" sz="1150" dirty="0"/>
          </a:p>
        </p:txBody>
      </p:sp>
      <p:sp>
        <p:nvSpPr>
          <p:cNvPr id="29" name="Text 27"/>
          <p:cNvSpPr/>
          <p:nvPr/>
        </p:nvSpPr>
        <p:spPr>
          <a:xfrm>
            <a:off x="822960" y="4480560"/>
            <a:ext cx="7909560" cy="429768"/>
          </a:xfrm>
          <a:prstGeom prst="rect">
            <a:avLst/>
          </a:prstGeom>
          <a:noFill/>
          <a:ln/>
        </p:spPr>
        <p:txBody>
          <a:bodyPr wrap="square" lIns="0" tIns="0" rIns="0" bIns="0" rtlCol="0" anchor="t"/>
          <a:lstStyle/>
          <a:p>
            <a:pPr marL="0" indent="0">
              <a:buNone/>
            </a:pPr>
            <a:r>
              <a:rPr lang="en-US" sz="1000" dirty="0">
                <a:solidFill>
                  <a:srgbClr val="2D2D2D"/>
                </a:solidFill>
              </a:rPr>
              <a:t>With the lowest satisfaction (2.70) and a high attrition environment, Analysts represent a career pipeline risk. If they leave at years 3-5, institutional knowledge is lost before it can transfer upward.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blipFill>
            <a:blip r:embed="rId3"/>
            <a:stretch>
              <a:fillRect/>
            </a:stretch>
          </a:blipFill>
          <a:ln w="12700">
            <a:noFill/>
            <a:prstDash val="solid"/>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1100" b="1" kern="0" spc="300" dirty="0">
                <a:solidFill>
                  <a:schemeClr val="bg1"/>
                </a:solidFill>
              </a:rPr>
              <a:t>RECOMMENDATIONS &amp; CONCLUSION</a:t>
            </a:r>
            <a:endParaRPr lang="en-US" sz="1100" dirty="0">
              <a:solidFill>
                <a:schemeClr val="bg1"/>
              </a:solidFill>
            </a:endParaRPr>
          </a:p>
        </p:txBody>
      </p:sp>
      <p:sp>
        <p:nvSpPr>
          <p:cNvPr id="4" name="Text 2"/>
          <p:cNvSpPr/>
          <p:nvPr/>
        </p:nvSpPr>
        <p:spPr>
          <a:xfrm>
            <a:off x="365760" y="914400"/>
            <a:ext cx="8229600" cy="411480"/>
          </a:xfrm>
          <a:prstGeom prst="rect">
            <a:avLst/>
          </a:prstGeom>
          <a:noFill/>
          <a:ln/>
        </p:spPr>
        <p:txBody>
          <a:bodyPr wrap="square" lIns="0" tIns="0" rIns="0" bIns="0" rtlCol="0" anchor="ctr"/>
          <a:lstStyle/>
          <a:p>
            <a:pPr marL="0" indent="0">
              <a:buNone/>
            </a:pPr>
            <a:r>
              <a:rPr lang="en-US" sz="2400" b="1" dirty="0">
                <a:solidFill>
                  <a:schemeClr val="bg1"/>
                </a:solidFill>
              </a:rPr>
              <a:t>What HR Should Do Next</a:t>
            </a:r>
            <a:endParaRPr lang="en-US" sz="2400" dirty="0">
              <a:solidFill>
                <a:schemeClr val="bg1"/>
              </a:solidFill>
            </a:endParaRPr>
          </a:p>
        </p:txBody>
      </p:sp>
      <p:sp>
        <p:nvSpPr>
          <p:cNvPr id="5" name="Shape 3"/>
          <p:cNvSpPr/>
          <p:nvPr/>
        </p:nvSpPr>
        <p:spPr>
          <a:xfrm>
            <a:off x="320040" y="1499616"/>
            <a:ext cx="274320" cy="274320"/>
          </a:xfrm>
          <a:prstGeom prst="ellipse">
            <a:avLst/>
          </a:prstGeom>
          <a:solidFill>
            <a:schemeClr val="accent6">
              <a:lumMod val="40000"/>
              <a:lumOff val="60000"/>
            </a:schemeClr>
          </a:solidFill>
          <a:ln w="12700">
            <a:solidFill>
              <a:schemeClr val="accent6">
                <a:lumMod val="40000"/>
                <a:lumOff val="60000"/>
              </a:schemeClr>
            </a:solidFill>
            <a:prstDash val="solid"/>
          </a:ln>
        </p:spPr>
      </p:sp>
      <p:sp>
        <p:nvSpPr>
          <p:cNvPr id="6" name="Text 4"/>
          <p:cNvSpPr/>
          <p:nvPr/>
        </p:nvSpPr>
        <p:spPr>
          <a:xfrm>
            <a:off x="320040" y="14996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7" name="Text 5"/>
          <p:cNvSpPr/>
          <p:nvPr/>
        </p:nvSpPr>
        <p:spPr>
          <a:xfrm>
            <a:off x="685800" y="1463040"/>
            <a:ext cx="5212080" cy="475488"/>
          </a:xfrm>
          <a:prstGeom prst="rect">
            <a:avLst/>
          </a:prstGeom>
          <a:noFill/>
          <a:ln/>
        </p:spPr>
        <p:txBody>
          <a:bodyPr wrap="square" lIns="0" tIns="0" rIns="0" bIns="0" rtlCol="0" anchor="ctr"/>
          <a:lstStyle/>
          <a:p>
            <a:pPr marL="0" indent="0">
              <a:buNone/>
            </a:pPr>
            <a:r>
              <a:rPr lang="en-US" sz="1000" dirty="0">
                <a:solidFill>
                  <a:schemeClr val="bg1"/>
                </a:solidFill>
              </a:rPr>
              <a:t>Launch promotion milestone reviews at Years 2-3. Flag employees approaching year 3 for career conversations before they reach the danger zone at year 5.</a:t>
            </a:r>
          </a:p>
        </p:txBody>
      </p:sp>
      <p:sp>
        <p:nvSpPr>
          <p:cNvPr id="9" name="Text 7"/>
          <p:cNvSpPr/>
          <p:nvPr/>
        </p:nvSpPr>
        <p:spPr>
          <a:xfrm>
            <a:off x="320040" y="2093976"/>
            <a:ext cx="274320" cy="274320"/>
          </a:xfrm>
          <a:prstGeom prst="rect">
            <a:avLst/>
          </a:prstGeom>
          <a:solidFill>
            <a:schemeClr val="accent6">
              <a:lumMod val="40000"/>
              <a:lumOff val="60000"/>
            </a:schemeClr>
          </a:solidFill>
          <a:ln>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0" name="Text 8"/>
          <p:cNvSpPr/>
          <p:nvPr/>
        </p:nvSpPr>
        <p:spPr>
          <a:xfrm>
            <a:off x="685800" y="1984248"/>
            <a:ext cx="5212080" cy="475488"/>
          </a:xfrm>
          <a:prstGeom prst="rect">
            <a:avLst/>
          </a:prstGeom>
          <a:noFill/>
          <a:ln/>
        </p:spPr>
        <p:txBody>
          <a:bodyPr wrap="square" lIns="0" tIns="0" rIns="0" bIns="0" rtlCol="0" anchor="ctr"/>
          <a:lstStyle/>
          <a:p>
            <a:pPr marL="0" indent="0">
              <a:buNone/>
            </a:pPr>
            <a:r>
              <a:rPr lang="en-US" sz="980" dirty="0">
                <a:solidFill>
                  <a:schemeClr val="bg1"/>
                </a:solidFill>
              </a:rPr>
              <a:t>Immediately engage employees promoted in early 2023; particularly 2018-2019 joiners. This cohort has the highest attrition and lowest satisfaction in the dataset.</a:t>
            </a:r>
          </a:p>
        </p:txBody>
      </p:sp>
      <p:sp>
        <p:nvSpPr>
          <p:cNvPr id="11" name="Shape 9"/>
          <p:cNvSpPr/>
          <p:nvPr/>
        </p:nvSpPr>
        <p:spPr>
          <a:xfrm>
            <a:off x="320040" y="2542032"/>
            <a:ext cx="274320" cy="274320"/>
          </a:xfrm>
          <a:prstGeom prst="ellipse">
            <a:avLst/>
          </a:prstGeom>
          <a:solidFill>
            <a:schemeClr val="accent6">
              <a:lumMod val="40000"/>
              <a:lumOff val="60000"/>
            </a:schemeClr>
          </a:solidFill>
          <a:ln w="12700">
            <a:solidFill>
              <a:schemeClr val="accent6">
                <a:lumMod val="40000"/>
                <a:lumOff val="60000"/>
              </a:schemeClr>
            </a:solidFill>
            <a:prstDash val="solid"/>
          </a:ln>
        </p:spPr>
      </p:sp>
      <p:sp>
        <p:nvSpPr>
          <p:cNvPr id="12" name="Text 10"/>
          <p:cNvSpPr/>
          <p:nvPr/>
        </p:nvSpPr>
        <p:spPr>
          <a:xfrm>
            <a:off x="320040" y="25420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3" name="Text 11"/>
          <p:cNvSpPr/>
          <p:nvPr/>
        </p:nvSpPr>
        <p:spPr>
          <a:xfrm>
            <a:off x="685800" y="2505456"/>
            <a:ext cx="5212080" cy="475488"/>
          </a:xfrm>
          <a:prstGeom prst="rect">
            <a:avLst/>
          </a:prstGeom>
          <a:noFill/>
          <a:ln/>
        </p:spPr>
        <p:txBody>
          <a:bodyPr wrap="square" lIns="0" tIns="0" rIns="0" bIns="0" rtlCol="0" anchor="ctr"/>
          <a:lstStyle/>
          <a:p>
            <a:pPr marL="0" indent="0">
              <a:buNone/>
            </a:pPr>
            <a:r>
              <a:rPr lang="en-US" sz="1000" dirty="0">
                <a:solidFill>
                  <a:schemeClr val="bg1"/>
                </a:solidFill>
              </a:rPr>
              <a:t>Investigate the B Performer recognition gap. Solid performers leaving faster than poor performers signals a recognition inequity that must be addressed.</a:t>
            </a:r>
          </a:p>
        </p:txBody>
      </p:sp>
      <p:sp>
        <p:nvSpPr>
          <p:cNvPr id="14" name="Shape 12"/>
          <p:cNvSpPr/>
          <p:nvPr/>
        </p:nvSpPr>
        <p:spPr>
          <a:xfrm>
            <a:off x="320040" y="3063240"/>
            <a:ext cx="274320" cy="274320"/>
          </a:xfrm>
          <a:prstGeom prst="ellipse">
            <a:avLst/>
          </a:prstGeom>
          <a:solidFill>
            <a:schemeClr val="accent6">
              <a:lumMod val="40000"/>
              <a:lumOff val="60000"/>
            </a:schemeClr>
          </a:solidFill>
          <a:ln w="12700">
            <a:solidFill>
              <a:schemeClr val="accent6">
                <a:lumMod val="40000"/>
                <a:lumOff val="60000"/>
              </a:schemeClr>
            </a:solidFill>
            <a:prstDash val="solid"/>
          </a:ln>
        </p:spPr>
      </p:sp>
      <p:sp>
        <p:nvSpPr>
          <p:cNvPr id="15" name="Text 13"/>
          <p:cNvSpPr/>
          <p:nvPr/>
        </p:nvSpPr>
        <p:spPr>
          <a:xfrm>
            <a:off x="320040" y="30632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6" name="Text 14"/>
          <p:cNvSpPr/>
          <p:nvPr/>
        </p:nvSpPr>
        <p:spPr>
          <a:xfrm>
            <a:off x="685800" y="3026664"/>
            <a:ext cx="5212080" cy="475488"/>
          </a:xfrm>
          <a:prstGeom prst="rect">
            <a:avLst/>
          </a:prstGeom>
          <a:noFill/>
          <a:ln/>
        </p:spPr>
        <p:txBody>
          <a:bodyPr wrap="square" lIns="0" tIns="0" rIns="0" bIns="0" rtlCol="0" anchor="ctr"/>
          <a:lstStyle/>
          <a:p>
            <a:pPr marL="0" indent="0">
              <a:buNone/>
            </a:pPr>
            <a:r>
              <a:rPr lang="en-US" sz="1000" dirty="0">
                <a:solidFill>
                  <a:schemeClr val="bg1"/>
                </a:solidFill>
              </a:rPr>
              <a:t>Build a structured Analyst career ladder with clear timelines, mentoring, and early promotion criteria to address the most dissatisfied position.</a:t>
            </a:r>
          </a:p>
        </p:txBody>
      </p:sp>
      <p:sp>
        <p:nvSpPr>
          <p:cNvPr id="17" name="Shape 15"/>
          <p:cNvSpPr/>
          <p:nvPr/>
        </p:nvSpPr>
        <p:spPr>
          <a:xfrm>
            <a:off x="320040" y="3584448"/>
            <a:ext cx="274320" cy="274320"/>
          </a:xfrm>
          <a:prstGeom prst="ellipse">
            <a:avLst/>
          </a:prstGeom>
          <a:solidFill>
            <a:srgbClr val="E84855"/>
          </a:solidFill>
          <a:ln w="12700">
            <a:solidFill>
              <a:srgbClr val="E84855"/>
            </a:solidFill>
            <a:prstDash val="solid"/>
          </a:ln>
        </p:spPr>
      </p:sp>
      <p:sp>
        <p:nvSpPr>
          <p:cNvPr id="18" name="Text 16"/>
          <p:cNvSpPr/>
          <p:nvPr/>
        </p:nvSpPr>
        <p:spPr>
          <a:xfrm>
            <a:off x="320040" y="3584448"/>
            <a:ext cx="274320" cy="274320"/>
          </a:xfrm>
          <a:prstGeom prst="rect">
            <a:avLst/>
          </a:prstGeom>
          <a:solidFill>
            <a:schemeClr val="accent6">
              <a:lumMod val="40000"/>
              <a:lumOff val="60000"/>
            </a:schemeClr>
          </a:solidFill>
          <a:ln>
            <a:solidFill>
              <a:schemeClr val="accent6">
                <a:lumMod val="40000"/>
                <a:lumOff val="60000"/>
              </a:schemeClr>
            </a:solid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19" name="Text 17"/>
          <p:cNvSpPr/>
          <p:nvPr/>
        </p:nvSpPr>
        <p:spPr>
          <a:xfrm>
            <a:off x="685800" y="3547872"/>
            <a:ext cx="5212080" cy="475488"/>
          </a:xfrm>
          <a:prstGeom prst="rect">
            <a:avLst/>
          </a:prstGeom>
          <a:noFill/>
          <a:ln/>
        </p:spPr>
        <p:txBody>
          <a:bodyPr wrap="square" lIns="0" tIns="0" rIns="0" bIns="0" rtlCol="0" anchor="ctr"/>
          <a:lstStyle/>
          <a:p>
            <a:pPr marL="0" indent="0">
              <a:buNone/>
            </a:pPr>
            <a:r>
              <a:rPr lang="en-US" sz="1000" dirty="0">
                <a:solidFill>
                  <a:schemeClr val="bg1"/>
                </a:solidFill>
              </a:rPr>
              <a:t>Redirect retention budget away from blanket salary increases. Salary is not driving attrition. Invest in career development and recognition programs instead.</a:t>
            </a:r>
          </a:p>
        </p:txBody>
      </p:sp>
      <p:sp>
        <p:nvSpPr>
          <p:cNvPr id="20" name="Shape 18"/>
          <p:cNvSpPr/>
          <p:nvPr/>
        </p:nvSpPr>
        <p:spPr>
          <a:xfrm>
            <a:off x="320040" y="4105656"/>
            <a:ext cx="274320" cy="274320"/>
          </a:xfrm>
          <a:prstGeom prst="ellipse">
            <a:avLst/>
          </a:prstGeom>
          <a:solidFill>
            <a:schemeClr val="accent6">
              <a:lumMod val="40000"/>
              <a:lumOff val="60000"/>
            </a:schemeClr>
          </a:solidFill>
          <a:ln w="12700">
            <a:solidFill>
              <a:schemeClr val="accent6">
                <a:lumMod val="40000"/>
                <a:lumOff val="60000"/>
              </a:schemeClr>
            </a:solidFill>
            <a:prstDash val="solid"/>
          </a:ln>
        </p:spPr>
      </p:sp>
      <p:sp>
        <p:nvSpPr>
          <p:cNvPr id="21" name="Text 19"/>
          <p:cNvSpPr/>
          <p:nvPr/>
        </p:nvSpPr>
        <p:spPr>
          <a:xfrm>
            <a:off x="320040" y="41056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2" name="Text 20"/>
          <p:cNvSpPr/>
          <p:nvPr/>
        </p:nvSpPr>
        <p:spPr>
          <a:xfrm>
            <a:off x="685800" y="4069080"/>
            <a:ext cx="5212080" cy="475488"/>
          </a:xfrm>
          <a:prstGeom prst="rect">
            <a:avLst/>
          </a:prstGeom>
          <a:noFill/>
          <a:ln/>
        </p:spPr>
        <p:txBody>
          <a:bodyPr wrap="square" lIns="0" tIns="0" rIns="0" bIns="0" rtlCol="0" anchor="ctr"/>
          <a:lstStyle/>
          <a:p>
            <a:pPr marL="0" indent="0">
              <a:buNone/>
            </a:pPr>
            <a:r>
              <a:rPr lang="en-US" sz="1000" dirty="0">
                <a:solidFill>
                  <a:schemeClr val="bg1"/>
                </a:solidFill>
              </a:rPr>
              <a:t>Commission exit interviews and a follow-up pulse survey for Finance and Analyst-grade employees to diagnose root causes at department level.</a:t>
            </a:r>
          </a:p>
        </p:txBody>
      </p:sp>
      <p:sp>
        <p:nvSpPr>
          <p:cNvPr id="23" name="Shape 21"/>
          <p:cNvSpPr/>
          <p:nvPr/>
        </p:nvSpPr>
        <p:spPr>
          <a:xfrm>
            <a:off x="6080760" y="1417320"/>
            <a:ext cx="2743200" cy="3246120"/>
          </a:xfrm>
          <a:prstGeom prst="rect">
            <a:avLst/>
          </a:prstGeom>
          <a:solidFill>
            <a:schemeClr val="accent6">
              <a:lumMod val="40000"/>
              <a:lumOff val="60000"/>
            </a:schemeClr>
          </a:solidFill>
          <a:ln w="12700">
            <a:noFill/>
            <a:prstDash val="solid"/>
          </a:ln>
        </p:spPr>
      </p:sp>
      <p:sp>
        <p:nvSpPr>
          <p:cNvPr id="24" name="Text 22"/>
          <p:cNvSpPr/>
          <p:nvPr/>
        </p:nvSpPr>
        <p:spPr>
          <a:xfrm>
            <a:off x="6172200" y="1508760"/>
            <a:ext cx="2560320" cy="347472"/>
          </a:xfrm>
          <a:prstGeom prst="rect">
            <a:avLst/>
          </a:prstGeom>
          <a:noFill/>
          <a:ln/>
        </p:spPr>
        <p:txBody>
          <a:bodyPr wrap="square" lIns="0" tIns="0" rIns="0" bIns="0" rtlCol="0" anchor="ctr"/>
          <a:lstStyle/>
          <a:p>
            <a:pPr marL="0" indent="0">
              <a:buNone/>
            </a:pPr>
            <a:r>
              <a:rPr lang="en-US" sz="1100" b="1" kern="0" spc="100" dirty="0"/>
              <a:t>WHAT IS WORKING </a:t>
            </a:r>
            <a:endParaRPr lang="en-US" sz="1100" dirty="0"/>
          </a:p>
        </p:txBody>
      </p:sp>
      <p:sp>
        <p:nvSpPr>
          <p:cNvPr id="26" name="Shape 24"/>
          <p:cNvSpPr/>
          <p:nvPr/>
        </p:nvSpPr>
        <p:spPr>
          <a:xfrm>
            <a:off x="6172200" y="2057400"/>
            <a:ext cx="201168" cy="201168"/>
          </a:xfrm>
          <a:prstGeom prst="rect">
            <a:avLst/>
          </a:prstGeom>
          <a:solidFill>
            <a:srgbClr val="FFFFFF">
              <a:alpha val="70000"/>
            </a:srgbClr>
          </a:solidFill>
          <a:ln w="12700">
            <a:solidFill>
              <a:srgbClr val="FFFFFF"/>
            </a:solidFill>
            <a:prstDash val="solid"/>
          </a:ln>
        </p:spPr>
      </p:sp>
      <p:sp>
        <p:nvSpPr>
          <p:cNvPr id="27" name="Text 25"/>
          <p:cNvSpPr/>
          <p:nvPr/>
        </p:nvSpPr>
        <p:spPr>
          <a:xfrm>
            <a:off x="6172200" y="2057400"/>
            <a:ext cx="201168" cy="201168"/>
          </a:xfrm>
          <a:prstGeom prst="rect">
            <a:avLst/>
          </a:prstGeom>
          <a:solidFill>
            <a:schemeClr val="accent6">
              <a:lumMod val="75000"/>
            </a:schemeClr>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8" name="Text 26"/>
          <p:cNvSpPr/>
          <p:nvPr/>
        </p:nvSpPr>
        <p:spPr>
          <a:xfrm>
            <a:off x="6446520" y="2011680"/>
            <a:ext cx="2240280" cy="475488"/>
          </a:xfrm>
          <a:prstGeom prst="rect">
            <a:avLst/>
          </a:prstGeom>
          <a:noFill/>
          <a:ln/>
        </p:spPr>
        <p:txBody>
          <a:bodyPr wrap="square" lIns="0" tIns="0" rIns="0" bIns="0" rtlCol="0" anchor="ctr"/>
          <a:lstStyle/>
          <a:p>
            <a:pPr marL="0" indent="0">
              <a:buNone/>
            </a:pPr>
            <a:r>
              <a:rPr lang="en-US" sz="1000" dirty="0"/>
              <a:t>A performers retained at</a:t>
            </a:r>
          </a:p>
          <a:p>
            <a:pPr marL="0" indent="0">
              <a:buNone/>
            </a:pPr>
            <a:r>
              <a:rPr lang="en-US" sz="1000" dirty="0"/>
              <a:t>only 30.7% attrition</a:t>
            </a:r>
          </a:p>
        </p:txBody>
      </p:sp>
      <p:sp>
        <p:nvSpPr>
          <p:cNvPr id="29" name="Shape 27"/>
          <p:cNvSpPr/>
          <p:nvPr/>
        </p:nvSpPr>
        <p:spPr>
          <a:xfrm>
            <a:off x="6172200" y="2606040"/>
            <a:ext cx="201168" cy="201168"/>
          </a:xfrm>
          <a:prstGeom prst="rect">
            <a:avLst/>
          </a:prstGeom>
          <a:solidFill>
            <a:schemeClr val="accent6">
              <a:lumMod val="75000"/>
              <a:alpha val="70000"/>
            </a:schemeClr>
          </a:solidFill>
          <a:ln w="12700">
            <a:solidFill>
              <a:srgbClr val="FFFFFF"/>
            </a:solidFill>
            <a:prstDash val="solid"/>
          </a:ln>
        </p:spPr>
      </p:sp>
      <p:sp>
        <p:nvSpPr>
          <p:cNvPr id="30" name="Text 28"/>
          <p:cNvSpPr/>
          <p:nvPr/>
        </p:nvSpPr>
        <p:spPr>
          <a:xfrm>
            <a:off x="6172200" y="260604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1" name="Text 29"/>
          <p:cNvSpPr/>
          <p:nvPr/>
        </p:nvSpPr>
        <p:spPr>
          <a:xfrm>
            <a:off x="6446520" y="2560320"/>
            <a:ext cx="2240280" cy="475488"/>
          </a:xfrm>
          <a:prstGeom prst="rect">
            <a:avLst/>
          </a:prstGeom>
          <a:noFill/>
          <a:ln/>
        </p:spPr>
        <p:txBody>
          <a:bodyPr wrap="square" lIns="0" tIns="0" rIns="0" bIns="0" rtlCol="0" anchor="ctr"/>
          <a:lstStyle/>
          <a:p>
            <a:pPr marL="0" indent="0">
              <a:buNone/>
            </a:pPr>
            <a:r>
              <a:rPr lang="en-US" sz="1000" dirty="0"/>
              <a:t>Aug 2024 promotions show</a:t>
            </a:r>
          </a:p>
          <a:p>
            <a:pPr marL="0" indent="0">
              <a:buNone/>
            </a:pPr>
            <a:r>
              <a:rPr lang="en-US" sz="1000" dirty="0"/>
              <a:t>lowest attrition: 28.4%</a:t>
            </a:r>
          </a:p>
        </p:txBody>
      </p:sp>
      <p:sp>
        <p:nvSpPr>
          <p:cNvPr id="32" name="Shape 30"/>
          <p:cNvSpPr/>
          <p:nvPr/>
        </p:nvSpPr>
        <p:spPr>
          <a:xfrm>
            <a:off x="6172200" y="3154680"/>
            <a:ext cx="201168" cy="201168"/>
          </a:xfrm>
          <a:prstGeom prst="rect">
            <a:avLst/>
          </a:prstGeom>
          <a:solidFill>
            <a:schemeClr val="accent6">
              <a:lumMod val="75000"/>
              <a:alpha val="70000"/>
            </a:schemeClr>
          </a:solidFill>
          <a:ln w="12700">
            <a:solidFill>
              <a:srgbClr val="FFFFFF"/>
            </a:solidFill>
            <a:prstDash val="solid"/>
          </a:ln>
        </p:spPr>
      </p:sp>
      <p:sp>
        <p:nvSpPr>
          <p:cNvPr id="33" name="Text 31"/>
          <p:cNvSpPr/>
          <p:nvPr/>
        </p:nvSpPr>
        <p:spPr>
          <a:xfrm>
            <a:off x="6172200" y="315468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4" name="Text 32"/>
          <p:cNvSpPr/>
          <p:nvPr/>
        </p:nvSpPr>
        <p:spPr>
          <a:xfrm>
            <a:off x="6446520" y="3108960"/>
            <a:ext cx="2240280" cy="475488"/>
          </a:xfrm>
          <a:prstGeom prst="rect">
            <a:avLst/>
          </a:prstGeom>
          <a:noFill/>
          <a:ln/>
        </p:spPr>
        <p:txBody>
          <a:bodyPr wrap="square" lIns="0" tIns="0" rIns="0" bIns="0" rtlCol="0" anchor="ctr"/>
          <a:lstStyle/>
          <a:p>
            <a:pPr marL="0" indent="0">
              <a:buNone/>
            </a:pPr>
            <a:r>
              <a:rPr lang="en-US" sz="1000" dirty="0"/>
              <a:t>Employees 50+ are highly</a:t>
            </a:r>
          </a:p>
          <a:p>
            <a:pPr marL="0" indent="0">
              <a:buNone/>
            </a:pPr>
            <a:r>
              <a:rPr lang="en-US" sz="1000" dirty="0"/>
              <a:t>Stable; only 15% attrition</a:t>
            </a:r>
          </a:p>
        </p:txBody>
      </p:sp>
      <p:sp>
        <p:nvSpPr>
          <p:cNvPr id="35" name="Shape 33"/>
          <p:cNvSpPr/>
          <p:nvPr/>
        </p:nvSpPr>
        <p:spPr>
          <a:xfrm>
            <a:off x="6172200" y="3703320"/>
            <a:ext cx="201168" cy="201168"/>
          </a:xfrm>
          <a:prstGeom prst="rect">
            <a:avLst/>
          </a:prstGeom>
          <a:solidFill>
            <a:schemeClr val="accent6">
              <a:lumMod val="75000"/>
              <a:alpha val="70000"/>
            </a:schemeClr>
          </a:solidFill>
          <a:ln w="12700">
            <a:solidFill>
              <a:srgbClr val="FFFFFF"/>
            </a:solidFill>
            <a:prstDash val="solid"/>
          </a:ln>
        </p:spPr>
      </p:sp>
      <p:sp>
        <p:nvSpPr>
          <p:cNvPr id="36" name="Text 34"/>
          <p:cNvSpPr/>
          <p:nvPr/>
        </p:nvSpPr>
        <p:spPr>
          <a:xfrm>
            <a:off x="6172200" y="370332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7" name="Text 35"/>
          <p:cNvSpPr/>
          <p:nvPr/>
        </p:nvSpPr>
        <p:spPr>
          <a:xfrm>
            <a:off x="6446520" y="3657600"/>
            <a:ext cx="2240280" cy="475488"/>
          </a:xfrm>
          <a:prstGeom prst="rect">
            <a:avLst/>
          </a:prstGeom>
          <a:noFill/>
          <a:ln/>
        </p:spPr>
        <p:txBody>
          <a:bodyPr wrap="square" lIns="0" tIns="0" rIns="0" bIns="0" rtlCol="0" anchor="ctr"/>
          <a:lstStyle/>
          <a:p>
            <a:pPr marL="0" indent="0">
              <a:buNone/>
            </a:pPr>
            <a:r>
              <a:rPr lang="en-US" sz="1000" dirty="0"/>
              <a:t>No gender-based attrition</a:t>
            </a:r>
          </a:p>
          <a:p>
            <a:pPr marL="0" indent="0">
              <a:buNone/>
            </a:pPr>
            <a:r>
              <a:rPr lang="en-US" sz="1000" dirty="0"/>
              <a:t>inequity detected</a:t>
            </a:r>
          </a:p>
        </p:txBody>
      </p:sp>
      <p:sp>
        <p:nvSpPr>
          <p:cNvPr id="38" name="Shape 36"/>
          <p:cNvSpPr/>
          <p:nvPr/>
        </p:nvSpPr>
        <p:spPr>
          <a:xfrm>
            <a:off x="6172200" y="4251960"/>
            <a:ext cx="201168" cy="201168"/>
          </a:xfrm>
          <a:prstGeom prst="rect">
            <a:avLst/>
          </a:prstGeom>
          <a:solidFill>
            <a:srgbClr val="FFFFFF">
              <a:alpha val="70000"/>
            </a:srgbClr>
          </a:solidFill>
          <a:ln w="12700">
            <a:solidFill>
              <a:srgbClr val="FFFFFF"/>
            </a:solidFill>
            <a:prstDash val="solid"/>
          </a:ln>
        </p:spPr>
      </p:sp>
      <p:sp>
        <p:nvSpPr>
          <p:cNvPr id="39" name="Text 37"/>
          <p:cNvSpPr/>
          <p:nvPr/>
        </p:nvSpPr>
        <p:spPr>
          <a:xfrm>
            <a:off x="6172200" y="4251960"/>
            <a:ext cx="201168" cy="201168"/>
          </a:xfrm>
          <a:prstGeom prst="rect">
            <a:avLst/>
          </a:prstGeom>
          <a:solidFill>
            <a:schemeClr val="accent6">
              <a:lumMod val="75000"/>
            </a:schemeClr>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40" name="Text 38"/>
          <p:cNvSpPr/>
          <p:nvPr/>
        </p:nvSpPr>
        <p:spPr>
          <a:xfrm>
            <a:off x="6446520" y="4206240"/>
            <a:ext cx="2240280" cy="475488"/>
          </a:xfrm>
          <a:prstGeom prst="rect">
            <a:avLst/>
          </a:prstGeom>
          <a:noFill/>
          <a:ln/>
        </p:spPr>
        <p:txBody>
          <a:bodyPr wrap="square" lIns="0" tIns="0" rIns="0" bIns="0" rtlCol="0" anchor="ctr"/>
          <a:lstStyle/>
          <a:p>
            <a:pPr marL="0" indent="0">
              <a:buNone/>
            </a:pPr>
            <a:r>
              <a:rPr lang="en-US" sz="1000" dirty="0"/>
              <a:t>Salary is fair and consistent</a:t>
            </a:r>
          </a:p>
          <a:p>
            <a:pPr marL="0" indent="0">
              <a:buNone/>
            </a:pPr>
            <a:r>
              <a:rPr lang="en-US" sz="1000" dirty="0"/>
              <a:t>across all departments</a:t>
            </a:r>
          </a:p>
        </p:txBody>
      </p:sp>
      <p:sp>
        <p:nvSpPr>
          <p:cNvPr id="41" name="Shape 39"/>
          <p:cNvSpPr/>
          <p:nvPr/>
        </p:nvSpPr>
        <p:spPr>
          <a:xfrm>
            <a:off x="0" y="4681728"/>
            <a:ext cx="9144000" cy="461772"/>
          </a:xfrm>
          <a:prstGeom prst="rect">
            <a:avLst/>
          </a:prstGeom>
          <a:blipFill>
            <a:blip r:embed="rId3"/>
            <a:stretch>
              <a:fillRect/>
            </a:stretch>
          </a:blipFill>
          <a:ln w="12700">
            <a:noFill/>
            <a:prstDash val="solid"/>
          </a:ln>
        </p:spPr>
      </p:sp>
      <p:sp>
        <p:nvSpPr>
          <p:cNvPr id="42" name="Text 40"/>
          <p:cNvSpPr/>
          <p:nvPr/>
        </p:nvSpPr>
        <p:spPr>
          <a:xfrm>
            <a:off x="320040" y="4681728"/>
            <a:ext cx="8503920" cy="461772"/>
          </a:xfrm>
          <a:prstGeom prst="rect">
            <a:avLst/>
          </a:prstGeom>
          <a:noFill/>
          <a:ln/>
        </p:spPr>
        <p:txBody>
          <a:bodyPr wrap="square" lIns="0" tIns="0" rIns="0" bIns="0" rtlCol="0" anchor="ctr"/>
          <a:lstStyle/>
          <a:p>
            <a:pPr marL="0" indent="0">
              <a:buNone/>
            </a:pPr>
            <a:r>
              <a:rPr lang="en-US" sz="1100" b="1" i="1" dirty="0">
                <a:solidFill>
                  <a:srgbClr val="FFFFFF"/>
                </a:solidFill>
              </a:rPr>
              <a:t>Salt Corporation does not have a pay problem; it has a recognition and career progression problem. The data tells us exactly where, when, and who to focus 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1620</TotalTime>
  <Words>1019</Words>
  <Application>Microsoft Office PowerPoint</Application>
  <PresentationFormat>On-screen Show (16:9)</PresentationFormat>
  <Paragraphs>156</Paragraphs>
  <Slides>9</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Salt Corporation HR Report 2024</dc:title>
  <dc:subject>PptxGenJS Presentation</dc:subject>
  <dc:creator>PptxGenJS</dc:creator>
  <cp:lastModifiedBy>Polo Man</cp:lastModifiedBy>
  <cp:revision>7</cp:revision>
  <dcterms:created xsi:type="dcterms:W3CDTF">2026-04-10T14:46:08Z</dcterms:created>
  <dcterms:modified xsi:type="dcterms:W3CDTF">2026-04-21T06:20:44Z</dcterms:modified>
</cp:coreProperties>
</file>